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68db05a-12f1-f3e7-3f1a-5de06174f028}">
          <p14:sldIdLst>
            <p14:sldId id="256"/>
          </p14:sldIdLst>
        </p14:section>
        <p14:section name="Problem" id="{c8a1eb24-292d-b778-81c2-2f108bf8edb0}">
          <p14:sldIdLst>
            <p14:sldId id="257"/>
          </p14:sldIdLst>
        </p14:section>
        <p14:section name="Solution" id="{f0d98a80-d922-6f82-5af6-23344a1414d0}">
          <p14:sldIdLst>
            <p14:sldId id="258"/>
            <p14:sldId id="259"/>
            <p14:sldId id="260"/>
          </p14:sldIdLst>
        </p14:section>
        <p14:section name="Fit" id="{972de647-95c7-e633-d6e0-372d421983dd}">
          <p14:sldIdLst>
            <p14:sldId id="261"/>
          </p14:sldIdLst>
        </p14:section>
        <p14:section name="Next" id="{dd4e2b91-df29-d9bb-ad6a-0a33ce47041e}">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&lt;team name&gt;, and this is Codebase Tavern, built for the Bridge the Gap problem statement. You paste a GitHub repo, and every module turns into a character that explains its own code, gossips about its neighbours and argues about bugs. Everything a character says cites real lines, so the jokes come with receipts. It is live right now at codebase-tavern.vercel.app.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in this room has opened a repo and not known where to start. On one side is a developer new to the codebase: hundreds of files, docs that stopped being true a while ago, and the people who know are busy. On the other side is the codebase, which holds its own history, quirks and risks, but only says so through the code and through people who have moved on. Between them there is no map and no guide, and reading code cold is slow and dull.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bridge is a tavern. Paste a GitHub link or upload files, and every module becomes a character that knows its own code. The folder tree with a generated face per module is on the left, the code is in the middle, and the chat with the selected character is on the right. When a character answers, the lines it cites light up in the code while it talks. The fiction is the interface; every fact is grounded in the actual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this works today in the live prototype. Ingestion loads any public GitHub repo in seconds, drops dependencies, lock files and binaries, and groups the rest into modules. Faces come from real stats: a bigger module gets a wider face, a file over 300 lines makes it sweat, six levels of nesting make it dizzy, five or more TODOs make it shifty, and no tests make it shiver. Every answer cites file and line, citations are validated before you see them, there are Beginner and Expert modes, and out-of-scope questions get redirected: 'Not mine. Ask test, the marathon runner.' Gemini is the primary model with an OpenAI fallback, requests are rate-limited, and no code is stored on our servers; on the express repo, root calls itself the historian because History.md is 3,929 of its 4,405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Incident Tribunal is for bugs that live between files. You describe a symptom, the suspect modules argue, each allowed to cite only its own code, and a judge delivers the culprits, root cause, evidence and a suggested fix as a diff; guilty modules fall over. In our quickcart demo the complaint is 'Customers are being charged twice': orders retries the charge on a timeout with no idempotency key, and the gateway gives up after 2000 ms while payments takes about 2400 ms under load, so the first charge often goes through after the gateway has already given up. No single file shows the bug. This mirrors how senior engineers debug: combine evidence from several places instead of trusting one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lists several kinds of gap, and we cover more than one. Beginner and Expert modes bridge experience levels, and the Tribunal shows newcomers how experienced engineers reason about a bug. The code explains itself in plain language, code health shows up as faces and moods you can read at a glance, and maintainers' code explains itself to new contributors. Most teams will take the obvious directions; we connected two sides that don't look related, characters and production code, which is the unexpected pairing the problem statement asks for, while every fact stays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final round we want characters to react to change, not just describe what exists. Ask 'what happens if I change this?' and the affected characters respond, with the impact rippling through dependent modules; while you edit, static analysis decides who is affected and the related tests confirm it. We also plan 3D characters with real text-to-speech voices, guided tours along the path a real request takes, zip upload, private repos through GitHub sign-in, a pull-request bot, a VS Code extension, and a shareable Roast My Repo card. The story is fiction. Every line it cites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600200"/>
            <a:ext cx="11094415" cy="1097280"/>
          </a:xfrm>
          <a:prstGeom prst="rect">
            <a:avLst/>
          </a:prstGeom>
          <a:noFill/>
          <a:ln/>
        </p:spPr>
        <p:txBody>
          <a:bodyPr wrap="square" rtlCol="0"/>
          <a:lstStyle>
            <a:lvl1pPr algn="l" indent="0" marL="0">
              <a:buNone/>
              <a:defRPr lang="en-US" sz="6600" b="1" dirty="0">
                <a:solidFill>
                  <a:schemeClr val="tx1"/>
                </a:solidFill>
              </a:defRPr>
            </a:lvl1pPr>
          </a:lstStyle>
          <a:p>
            <a:pPr algn="l" indent="0" marL="0">
              <a:buNone/>
            </a:pPr>
            <a:endParaRPr lang="en-US" sz="6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68680"/>
            <a:ext cx="11094415" cy="6400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ph idx="101" type="body" hasCustomPrompt="1"/>
          </p:nvPr>
        </p:nvSpPr>
        <p:spPr>
          <a:xfrm>
            <a:off x="548640" y="1536192"/>
            <a:ext cx="11094415" cy="329184"/>
          </a:xfrm>
          <a:prstGeom prst="rect">
            <a:avLst/>
          </a:prstGeom>
          <a:noFill/>
          <a:ln/>
        </p:spPr>
        <p:txBody>
          <a:bodyPr wrap="square" rtlCol="0"/>
          <a:lstStyle>
            <a:lvl1pPr indent="0" marL="0">
              <a:buNone/>
              <a:defRPr lang="en-US" sz="1400" dirty="0">
                <a:solidFill>
                  <a:schemeClr val="tx2"/>
                </a:solidFill>
                <a:latin typeface="JetBrains Mono" pitchFamily="34" charset="0"/>
                <a:ea typeface="JetBrains Mono" pitchFamily="34" charset="-122"/>
                <a:cs typeface="JetBrains Mono" pitchFamily="34" charset="-120"/>
              </a:defRPr>
            </a:lvl1pPr>
          </a:lstStyle>
          <a:p>
            <a:pPr indent="0" marL="0">
              <a:buNone/>
            </a:pPr>
            <a:endParaRPr lang="en-US" sz="1400" dirty="0"/>
          </a:p>
        </p:txBody>
      </p:sp>
      <p:sp>
        <p:nvSpPr>
          <p:cNvPr id="4" name="Text 0"/>
          <p:cNvSpPr/>
          <p:nvPr/>
        </p:nvSpPr>
        <p:spPr>
          <a:xfrm>
            <a:off x="548640" y="6355080"/>
            <a:ext cx="4572000" cy="274320"/>
          </a:xfrm>
          <a:prstGeom prst="rect">
            <a:avLst/>
          </a:prstGeom>
          <a:noFill/>
          <a:ln/>
        </p:spPr>
        <p:txBody>
          <a:bodyPr wrap="square" lIns="0" tIns="0" rIns="0" bIns="0" rtlCol="0" anchor="t"/>
          <a:lstStyle/>
          <a:p>
            <a:pPr indent="0" marL="0">
              <a:buNone/>
            </a:pPr>
            <a:r>
              <a:rPr lang="en-US" sz="1000" dirty="0">
                <a:solidFill>
                  <a:schemeClr val="tx2"/>
                </a:solidFill>
                <a:latin typeface="JetBrains Mono" pitchFamily="34" charset="0"/>
                <a:ea typeface="JetBrains Mono" pitchFamily="34" charset="-122"/>
                <a:cs typeface="JetBrains Mono" pitchFamily="34" charset="-120"/>
              </a:rPr>
              <a:t>codebase-tavern.vercel.app</a:t>
            </a:r>
            <a:endParaRPr lang="en-US" sz="10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latin typeface="JetBrains Mono"/>
                <a:ea typeface="JetBrains Mono"/>
                <a:cs typeface="JetBrains Mon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latin typeface="JetBrains Mono"/>
                <a:ea typeface="JetBrains Mono"/>
                <a:cs typeface="JetBrains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b"/>
          <p:cNvSpPr txBox="1"/>
          <p:nvPr/>
        </p:nvSpPr>
        <p:spPr>
          <a:xfrm>
            <a:off x="548640" y="320040"/>
            <a:ext cx="2712720" cy="310896"/>
          </a:xfrm>
          <a:prstGeom prst="roundRect">
            <a:avLst>
              <a:gd name="adj" fmla="val 14706"/>
            </a:avLst>
          </a:prstGeom>
          <a:solidFill>
            <a:schemeClr val="bg1"/>
          </a:solidFill>
          <a:ln w="9525">
            <a:solidFill>
              <a:schemeClr val="accent4"/>
            </a:solidFill>
          </a:ln>
        </p:spPr>
        <p:txBody>
          <a:bodyPr wrap="square" lIns="0" tIns="0" rIns="0" bIns="0" rtlCol="0" anchor="ctr"/>
          <a:lstStyle/>
          <a:p>
            <a:pPr algn="ctr" indent="0" marL="0">
              <a:buNone/>
            </a:pPr>
            <a:r>
              <a:rPr lang="en-US" sz="1100" dirty="0">
                <a:solidFill>
                  <a:schemeClr val="tx2"/>
                </a:solidFill>
                <a:latin typeface="JetBrains Mono" pitchFamily="34" charset="0"/>
                <a:ea typeface="JetBrains Mono" pitchFamily="34" charset="-122"/>
                <a:cs typeface="JetBrains Mono" pitchFamily="34" charset="-120"/>
              </a:rPr>
              <a:t>slides/01_codebase_tavern.md</a:t>
            </a:r>
            <a:endParaRPr lang="en-US" sz="1100" dirty="0"/>
          </a:p>
        </p:txBody>
      </p:sp>
      <p:sp>
        <p:nvSpPr>
          <p:cNvPr id="3" name="Text 0"/>
          <p:cNvSpPr/>
          <p:nvPr>
            <p:ph idx="100" type="title" hasCustomPrompt="1"/>
          </p:nvPr>
        </p:nvSpPr>
        <p:spPr>
          <a:xfrm>
            <a:off x="548640" y="1600200"/>
            <a:ext cx="11094415" cy="1097280"/>
          </a:xfrm>
          <a:prstGeom prst="rect">
            <a:avLst/>
          </a:prstGeom>
          <a:noFill/>
          <a:ln/>
        </p:spPr>
        <p:txBody>
          <a:bodyPr wrap="square" lIns="0" tIns="0" rIns="0" bIns="0" rtlCol="0" anchor="b"/>
          <a:lstStyle/>
          <a:p>
            <a:pPr algn="l" indent="0" marL="0">
              <a:buNone/>
            </a:pPr>
            <a:r>
              <a:rPr lang="en-US" sz="6600" b="1" dirty="0">
                <a:solidFill>
                  <a:schemeClr val="tx1"/>
                </a:solidFill>
              </a:rPr>
              <a:t>codebase_tavern</a:t>
            </a:r>
            <a:endParaRPr lang="en-US" sz="6600" dirty="0"/>
          </a:p>
        </p:txBody>
      </p:sp>
      <p:sp>
        <p:nvSpPr>
          <p:cNvPr id="4" name="Tagline"/>
          <p:cNvSpPr txBox="1"/>
          <p:nvPr/>
        </p:nvSpPr>
        <p:spPr>
          <a:xfrm>
            <a:off x="548640" y="2788920"/>
            <a:ext cx="11094415" cy="457200"/>
          </a:xfrm>
          <a:prstGeom prst="rect">
            <a:avLst/>
          </a:prstGeom>
          <a:noFill/>
          <a:ln/>
        </p:spPr>
        <p:txBody>
          <a:bodyPr wrap="square" lIns="0" tIns="0" rIns="0" bIns="0" rtlCol="0" anchor="ctr"/>
          <a:lstStyle/>
          <a:p>
            <a:pPr indent="0" marL="0">
              <a:buNone/>
            </a:pPr>
            <a:r>
              <a:rPr lang="en-US" sz="2000" dirty="0">
                <a:solidFill>
                  <a:schemeClr val="tx2"/>
                </a:solidFill>
                <a:latin typeface="JetBrains Mono" pitchFamily="34" charset="0"/>
                <a:ea typeface="JetBrains Mono" pitchFamily="34" charset="-122"/>
                <a:cs typeface="JetBrains Mono" pitchFamily="34" charset="-120"/>
              </a:rPr>
              <a:t>// Every module gets a voice. Most of them have complaints.</a:t>
            </a:r>
            <a:endParaRPr lang="en-US" sz="2000" dirty="0"/>
          </a:p>
        </p:txBody>
      </p:sp>
      <p:sp>
        <p:nvSpPr>
          <p:cNvPr id="5" name="Project config"/>
          <p:cNvSpPr/>
          <p:nvPr/>
        </p:nvSpPr>
        <p:spPr>
          <a:xfrm>
            <a:off x="548640" y="3703320"/>
            <a:ext cx="7680960" cy="1771904"/>
          </a:xfrm>
          <a:prstGeom prst="roundRect">
            <a:avLst>
              <a:gd name="adj" fmla="val 4128"/>
            </a:avLst>
          </a:prstGeom>
          <a:solidFill>
            <a:schemeClr val="bg2"/>
          </a:solidFill>
          <a:ln w="9525">
            <a:solidFill>
              <a:schemeClr val="accent4"/>
            </a:solidFill>
            <a:prstDash val="solid"/>
          </a:ln>
        </p:spPr>
      </p:sp>
      <p:sp>
        <p:nvSpPr>
          <p:cNvPr id="6" name="Text 4"/>
          <p:cNvSpPr txBox="1"/>
          <p:nvPr/>
        </p:nvSpPr>
        <p:spPr>
          <a:xfrm>
            <a:off x="749808" y="3813048"/>
            <a:ext cx="7278624" cy="237744"/>
          </a:xfrm>
          <a:prstGeom prst="rect">
            <a:avLst/>
          </a:prstGeom>
          <a:noFill/>
          <a:ln/>
        </p:spPr>
        <p:txBody>
          <a:bodyPr wrap="square" lIns="0" tIns="0" rIns="0" bIns="0" rtlCol="0" anchor="ctr"/>
          <a:lstStyle/>
          <a:p>
            <a:pPr indent="0" marL="0">
              <a:buNone/>
            </a:pPr>
            <a:r>
              <a:rPr lang="en-US" sz="1100" dirty="0">
                <a:solidFill>
                  <a:schemeClr val="tx2"/>
                </a:solidFill>
                <a:latin typeface="JetBrains Mono" pitchFamily="34" charset="0"/>
                <a:ea typeface="JetBrains Mono" pitchFamily="34" charset="-122"/>
                <a:cs typeface="JetBrains Mono" pitchFamily="34" charset="-120"/>
              </a:rPr>
              <a:t>tavern.toml</a:t>
            </a:r>
            <a:endParaRPr lang="en-US" sz="1100" dirty="0"/>
          </a:p>
        </p:txBody>
      </p:sp>
      <p:sp>
        <p:nvSpPr>
          <p:cNvPr id="7" name="Text 5"/>
          <p:cNvSpPr txBox="1"/>
          <p:nvPr/>
        </p:nvSpPr>
        <p:spPr>
          <a:xfrm>
            <a:off x="640080" y="4123944"/>
            <a:ext cx="457200" cy="1168400"/>
          </a:xfrm>
          <a:prstGeom prst="rect">
            <a:avLst/>
          </a:prstGeom>
          <a:noFill/>
          <a:ln/>
        </p:spPr>
        <p:txBody>
          <a:bodyPr wrap="square" lIns="0" tIns="0" rIns="0" bIns="0" rtlCol="0" anchor="t"/>
          <a:lstStyle/>
          <a:p>
            <a:pPr algn="r" indent="0" marL="0">
              <a:lnSpc>
                <a:spcPts val="2300"/>
              </a:lnSpc>
              <a:buNone/>
            </a:pPr>
            <a:r>
              <a:rPr lang="en-US" sz="1500" dirty="0">
                <a:solidFill>
                  <a:schemeClr val="accent5"/>
                </a:solidFill>
                <a:latin typeface="JetBrains Mono" pitchFamily="34" charset="0"/>
                <a:ea typeface="JetBrains Mono" pitchFamily="34" charset="-122"/>
                <a:cs typeface="JetBrains Mono" pitchFamily="34" charset="-120"/>
              </a:rPr>
              <a:t>1</a:t>
            </a:r>
            <a:endParaRPr lang="en-US" sz="1500" dirty="0"/>
          </a:p>
          <a:p>
            <a:pPr algn="r" indent="0" marL="0">
              <a:lnSpc>
                <a:spcPts val="2300"/>
              </a:lnSpc>
              <a:buNone/>
            </a:pPr>
            <a:r>
              <a:rPr lang="en-US" sz="1500" dirty="0">
                <a:solidFill>
                  <a:schemeClr val="accent5"/>
                </a:solidFill>
                <a:latin typeface="JetBrains Mono" pitchFamily="34" charset="0"/>
                <a:ea typeface="JetBrains Mono" pitchFamily="34" charset="-122"/>
                <a:cs typeface="JetBrains Mono" pitchFamily="34" charset="-120"/>
              </a:rPr>
              <a:t>2</a:t>
            </a:r>
            <a:endParaRPr lang="en-US" sz="1500" dirty="0"/>
          </a:p>
          <a:p>
            <a:pPr algn="r" indent="0" marL="0">
              <a:lnSpc>
                <a:spcPts val="2300"/>
              </a:lnSpc>
              <a:buNone/>
            </a:pPr>
            <a:r>
              <a:rPr lang="en-US" sz="1500" dirty="0">
                <a:solidFill>
                  <a:schemeClr val="accent5"/>
                </a:solidFill>
                <a:latin typeface="JetBrains Mono" pitchFamily="34" charset="0"/>
                <a:ea typeface="JetBrains Mono" pitchFamily="34" charset="-122"/>
                <a:cs typeface="JetBrains Mono" pitchFamily="34" charset="-120"/>
              </a:rPr>
              <a:t>3</a:t>
            </a:r>
            <a:endParaRPr lang="en-US" sz="1500" dirty="0"/>
          </a:p>
          <a:p>
            <a:pPr algn="r" indent="0" marL="0">
              <a:lnSpc>
                <a:spcPts val="2300"/>
              </a:lnSpc>
              <a:buNone/>
            </a:pPr>
            <a:r>
              <a:rPr lang="en-US" sz="1500" dirty="0">
                <a:solidFill>
                  <a:schemeClr val="accent5"/>
                </a:solidFill>
                <a:latin typeface="JetBrains Mono" pitchFamily="34" charset="0"/>
                <a:ea typeface="JetBrains Mono" pitchFamily="34" charset="-122"/>
                <a:cs typeface="JetBrains Mono" pitchFamily="34" charset="-120"/>
              </a:rPr>
              <a:t>4</a:t>
            </a:r>
            <a:endParaRPr lang="en-US" sz="1500" dirty="0"/>
          </a:p>
        </p:txBody>
      </p:sp>
      <p:sp>
        <p:nvSpPr>
          <p:cNvPr id="8" name="Text 6"/>
          <p:cNvSpPr txBox="1"/>
          <p:nvPr/>
        </p:nvSpPr>
        <p:spPr>
          <a:xfrm>
            <a:off x="1280160" y="4123944"/>
            <a:ext cx="6812280" cy="1168400"/>
          </a:xfrm>
          <a:prstGeom prst="rect">
            <a:avLst/>
          </a:prstGeom>
          <a:noFill/>
          <a:ln/>
        </p:spPr>
        <p:txBody>
          <a:bodyPr wrap="square" lIns="0" tIns="0" rIns="0" bIns="0" rtlCol="0" anchor="t"/>
          <a:lstStyle/>
          <a:p>
            <a:pPr indent="0" marL="0">
              <a:lnSpc>
                <a:spcPts val="2300"/>
              </a:lnSpc>
              <a:buNone/>
            </a:pPr>
            <a:r>
              <a:rPr lang="en-US" sz="1500" dirty="0">
                <a:solidFill>
                  <a:schemeClr val="tx1"/>
                </a:solidFill>
                <a:latin typeface="JetBrains Mono" pitchFamily="34" charset="0"/>
                <a:ea typeface="JetBrains Mono" pitchFamily="34" charset="-122"/>
                <a:cs typeface="JetBrains Mono" pitchFamily="34" charset="-120"/>
              </a:rPr>
              <a:t>live  = </a:t>
            </a:r>
            <a:r>
              <a:rPr lang="en-US" sz="1500" dirty="0">
                <a:solidFill>
                  <a:schemeClr val="accent2"/>
                </a:solidFill>
                <a:latin typeface="JetBrains Mono" pitchFamily="34" charset="0"/>
                <a:ea typeface="JetBrains Mono" pitchFamily="34" charset="-122"/>
                <a:cs typeface="JetBrains Mono" pitchFamily="34" charset="-120"/>
              </a:rPr>
              <a:t>"codebase-tavern.vercel.app"</a:t>
            </a:r>
            <a:endParaRPr lang="en-US" sz="1500" dirty="0"/>
          </a:p>
          <a:p>
            <a:pPr indent="0" marL="0">
              <a:lnSpc>
                <a:spcPts val="2300"/>
              </a:lnSpc>
              <a:buNone/>
            </a:pPr>
            <a:r>
              <a:rPr lang="en-US" sz="1500" dirty="0">
                <a:solidFill>
                  <a:schemeClr val="tx1"/>
                </a:solidFill>
                <a:latin typeface="JetBrains Mono" pitchFamily="34" charset="0"/>
                <a:ea typeface="JetBrains Mono" pitchFamily="34" charset="-122"/>
                <a:cs typeface="JetBrains Mono" pitchFamily="34" charset="-120"/>
              </a:rPr>
              <a:t>team  = </a:t>
            </a:r>
            <a:r>
              <a:rPr lang="en-US" sz="1500" dirty="0">
                <a:solidFill>
                  <a:schemeClr val="accent2"/>
                </a:solidFill>
                <a:latin typeface="JetBrains Mono" pitchFamily="34" charset="0"/>
                <a:ea typeface="JetBrains Mono" pitchFamily="34" charset="-122"/>
                <a:cs typeface="JetBrains Mono" pitchFamily="34" charset="-120"/>
              </a:rPr>
              <a:t>"&lt;team name&gt;"</a:t>
            </a:r>
            <a:endParaRPr lang="en-US" sz="1500" dirty="0"/>
          </a:p>
          <a:p>
            <a:pPr indent="0" marL="0">
              <a:lnSpc>
                <a:spcPts val="2300"/>
              </a:lnSpc>
              <a:buNone/>
            </a:pPr>
            <a:r>
              <a:rPr lang="en-US" sz="1500" dirty="0">
                <a:solidFill>
                  <a:schemeClr val="tx1"/>
                </a:solidFill>
                <a:latin typeface="JetBrains Mono" pitchFamily="34" charset="0"/>
                <a:ea typeface="JetBrains Mono" pitchFamily="34" charset="-122"/>
                <a:cs typeface="JetBrains Mono" pitchFamily="34" charset="-120"/>
              </a:rPr>
              <a:t>event = </a:t>
            </a:r>
            <a:r>
              <a:rPr lang="en-US" sz="1500" dirty="0">
                <a:solidFill>
                  <a:schemeClr val="accent2"/>
                </a:solidFill>
                <a:latin typeface="JetBrains Mono" pitchFamily="34" charset="0"/>
                <a:ea typeface="JetBrains Mono" pitchFamily="34" charset="-122"/>
                <a:cs typeface="JetBrains Mono" pitchFamily="34" charset="-120"/>
              </a:rPr>
              <a:t>"GDG on Campus NSUT / Devlympics – Shunya 2026"</a:t>
            </a:r>
            <a:endParaRPr lang="en-US" sz="1500" dirty="0"/>
          </a:p>
          <a:p>
            <a:pPr indent="0" marL="0">
              <a:lnSpc>
                <a:spcPts val="2300"/>
              </a:lnSpc>
              <a:buNone/>
            </a:pPr>
            <a:r>
              <a:rPr lang="en-US" sz="1500" dirty="0">
                <a:solidFill>
                  <a:schemeClr val="tx1"/>
                </a:solidFill>
                <a:latin typeface="JetBrains Mono" pitchFamily="34" charset="0"/>
                <a:ea typeface="JetBrains Mono" pitchFamily="34" charset="-122"/>
                <a:cs typeface="JetBrains Mono" pitchFamily="34" charset="-120"/>
              </a:rPr>
              <a:t>track = </a:t>
            </a:r>
            <a:r>
              <a:rPr lang="en-US" sz="1500" dirty="0">
                <a:solidFill>
                  <a:schemeClr val="accent2"/>
                </a:solidFill>
                <a:latin typeface="JetBrains Mono" pitchFamily="34" charset="0"/>
                <a:ea typeface="JetBrains Mono" pitchFamily="34" charset="-122"/>
                <a:cs typeface="JetBrains Mono" pitchFamily="34" charset="-120"/>
              </a:rPr>
              <a:t>"Bridge the Gap"</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ab"/>
          <p:cNvSpPr txBox="1"/>
          <p:nvPr/>
        </p:nvSpPr>
        <p:spPr>
          <a:xfrm>
            <a:off x="548640" y="320040"/>
            <a:ext cx="2042160" cy="310896"/>
          </a:xfrm>
          <a:prstGeom prst="roundRect">
            <a:avLst>
              <a:gd name="adj" fmla="val 14706"/>
            </a:avLst>
          </a:prstGeom>
          <a:solidFill>
            <a:schemeClr val="bg1"/>
          </a:solidFill>
          <a:ln w="9525">
            <a:solidFill>
              <a:schemeClr val="accent4"/>
            </a:solidFill>
          </a:ln>
        </p:spPr>
        <p:txBody>
          <a:bodyPr wrap="square" lIns="0" tIns="0" rIns="0" bIns="0" rtlCol="0" anchor="ctr"/>
          <a:lstStyle/>
          <a:p>
            <a:pPr algn="ctr" indent="0" marL="0">
              <a:buNone/>
            </a:pPr>
            <a:r>
              <a:rPr lang="en-US" sz="1100" dirty="0">
                <a:solidFill>
                  <a:schemeClr val="tx2"/>
                </a:solidFill>
                <a:latin typeface="JetBrains Mono" pitchFamily="34" charset="0"/>
                <a:ea typeface="JetBrains Mono" pitchFamily="34" charset="-122"/>
                <a:cs typeface="JetBrains Mono" pitchFamily="34" charset="-120"/>
              </a:rPr>
              <a:t>slides/02_the_gap.md</a:t>
            </a:r>
            <a:endParaRPr lang="en-US" sz="1100" dirty="0"/>
          </a:p>
        </p:txBody>
      </p:sp>
      <p:sp>
        <p:nvSpPr>
          <p:cNvPr id="3" name="Text 0"/>
          <p:cNvSpPr/>
          <p:nvPr>
            <p:ph idx="100" type="title" hasCustomPrompt="1"/>
          </p:nvPr>
        </p:nvSpPr>
        <p:spPr>
          <a:xfrm>
            <a:off x="548640" y="868680"/>
            <a:ext cx="11094415" cy="640080"/>
          </a:xfrm>
          <a:prstGeom prst="rect">
            <a:avLst/>
          </a:prstGeom>
          <a:noFill/>
          <a:ln/>
        </p:spPr>
        <p:txBody>
          <a:bodyPr wrap="square" lIns="0" tIns="0" rIns="0" bIns="0" rtlCol="0" anchor="ctr"/>
          <a:lstStyle/>
          <a:p>
            <a:pPr algn="l" indent="0" marL="0">
              <a:buNone/>
            </a:pPr>
            <a:r>
              <a:rPr lang="en-US" sz="3600" b="1" dirty="0">
                <a:solidFill>
                  <a:schemeClr val="tx2"/>
                </a:solidFill>
              </a:rPr>
              <a:t>// </a:t>
            </a:r>
            <a:r>
              <a:rPr lang="en-US" sz="3600" b="1" dirty="0">
                <a:solidFill>
                  <a:schemeClr val="tx1"/>
                </a:solidFill>
              </a:rPr>
              <a:t>the gap</a:t>
            </a:r>
            <a:endParaRPr lang="en-US" sz="3600" dirty="0"/>
          </a:p>
        </p:txBody>
      </p:sp>
      <p:sp>
        <p:nvSpPr>
          <p:cNvPr id="4" name="Text 0"/>
          <p:cNvSpPr/>
          <p:nvPr>
            <p:ph idx="101" type="body" hasCustomPrompt="1"/>
          </p:nvPr>
        </p:nvSpPr>
        <p:spPr>
          <a:xfrm>
            <a:off x="548640" y="1536192"/>
            <a:ext cx="11094415" cy="329184"/>
          </a:xfrm>
          <a:prstGeom prst="rect">
            <a:avLst/>
          </a:prstGeom>
          <a:noFill/>
          <a:ln/>
        </p:spPr>
        <p:txBody>
          <a:bodyPr wrap="square" lIns="0" tIns="0" rIns="0" bIns="0" rtlCol="0" anchor="ctr"/>
          <a:lstStyle/>
          <a:p>
            <a:pPr indent="0" marL="0">
              <a:buNone/>
            </a:pPr>
            <a:r>
              <a:rPr lang="en-US" sz="1400" dirty="0">
                <a:solidFill>
                  <a:schemeClr val="tx2"/>
                </a:solidFill>
                <a:latin typeface="JetBrains Mono" pitchFamily="34" charset="0"/>
                <a:ea typeface="JetBrains Mono" pitchFamily="34" charset="-122"/>
                <a:cs typeface="JetBrains Mono" pitchFamily="34" charset="-120"/>
              </a:rPr>
              <a:t>// two sides that should connect, and don't</a:t>
            </a:r>
            <a:endParaRPr lang="en-US" sz="1400" dirty="0"/>
          </a:p>
        </p:txBody>
      </p:sp>
      <p:sp>
        <p:nvSpPr>
          <p:cNvPr id="5" name="new_developer"/>
          <p:cNvSpPr/>
          <p:nvPr/>
        </p:nvSpPr>
        <p:spPr>
          <a:xfrm>
            <a:off x="548640" y="2240280"/>
            <a:ext cx="4160520" cy="2103120"/>
          </a:xfrm>
          <a:prstGeom prst="roundRect">
            <a:avLst>
              <a:gd name="adj" fmla="val 3478"/>
            </a:avLst>
          </a:prstGeom>
          <a:solidFill>
            <a:schemeClr val="bg1"/>
          </a:solidFill>
          <a:ln w="12700">
            <a:solidFill>
              <a:schemeClr val="accent4"/>
            </a:solidFill>
            <a:prstDash val="solid"/>
          </a:ln>
        </p:spPr>
      </p:sp>
      <p:sp>
        <p:nvSpPr>
          <p:cNvPr id="6" name="Text 4"/>
          <p:cNvSpPr txBox="1"/>
          <p:nvPr/>
        </p:nvSpPr>
        <p:spPr>
          <a:xfrm>
            <a:off x="868680" y="2560320"/>
            <a:ext cx="3520440" cy="411480"/>
          </a:xfrm>
          <a:prstGeom prst="rect">
            <a:avLst/>
          </a:prstGeom>
          <a:noFill/>
          <a:ln/>
        </p:spPr>
        <p:txBody>
          <a:bodyPr wrap="square" lIns="0" tIns="0" rIns="0" bIns="0" rtlCol="0" anchor="ctr"/>
          <a:lstStyle/>
          <a:p>
            <a:pPr indent="0" marL="0">
              <a:buNone/>
            </a:pPr>
            <a:r>
              <a:rPr lang="en-US" sz="2000" b="1" dirty="0">
                <a:solidFill>
                  <a:schemeClr val="tx1"/>
                </a:solidFill>
                <a:latin typeface="JetBrains Mono" pitchFamily="34" charset="0"/>
                <a:ea typeface="JetBrains Mono" pitchFamily="34" charset="-122"/>
                <a:cs typeface="JetBrains Mono" pitchFamily="34" charset="-120"/>
              </a:rPr>
              <a:t>new_developer</a:t>
            </a:r>
            <a:endParaRPr lang="en-US" sz="2000" dirty="0"/>
          </a:p>
        </p:txBody>
      </p:sp>
      <p:sp>
        <p:nvSpPr>
          <p:cNvPr id="7" name="Text 5"/>
          <p:cNvSpPr txBox="1"/>
          <p:nvPr/>
        </p:nvSpPr>
        <p:spPr>
          <a:xfrm>
            <a:off x="868680" y="3108960"/>
            <a:ext cx="3520440" cy="1188720"/>
          </a:xfrm>
          <a:prstGeom prst="rect">
            <a:avLst/>
          </a:prstGeom>
          <a:noFill/>
          <a:ln/>
        </p:spPr>
        <p:txBody>
          <a:bodyPr wrap="square" lIns="0" tIns="0" rIns="0" bIns="0" rtlCol="0" anchor="t"/>
          <a:lstStyle/>
          <a:p>
            <a:pPr indent="0" marL="0">
              <a:buNone/>
            </a:pPr>
            <a:r>
              <a:rPr lang="en-US" sz="1800" dirty="0">
                <a:solidFill>
                  <a:schemeClr val="tx1"/>
                </a:solidFill>
              </a:rPr>
              <a:t>Hundreds of files. Stale docs. Nobody free to ask.</a:t>
            </a:r>
            <a:endParaRPr lang="en-US" sz="1800" dirty="0"/>
          </a:p>
        </p:txBody>
      </p:sp>
      <p:sp>
        <p:nvSpPr>
          <p:cNvPr id="8" name="the_codebase/"/>
          <p:cNvSpPr/>
          <p:nvPr/>
        </p:nvSpPr>
        <p:spPr>
          <a:xfrm>
            <a:off x="7482535" y="2240280"/>
            <a:ext cx="4160520" cy="2103120"/>
          </a:xfrm>
          <a:prstGeom prst="roundRect">
            <a:avLst>
              <a:gd name="adj" fmla="val 3478"/>
            </a:avLst>
          </a:prstGeom>
          <a:solidFill>
            <a:schemeClr val="bg1"/>
          </a:solidFill>
          <a:ln w="12700">
            <a:solidFill>
              <a:schemeClr val="accent4"/>
            </a:solidFill>
            <a:prstDash val="solid"/>
          </a:ln>
        </p:spPr>
      </p:sp>
      <p:sp>
        <p:nvSpPr>
          <p:cNvPr id="9" name="Text 7"/>
          <p:cNvSpPr txBox="1"/>
          <p:nvPr/>
        </p:nvSpPr>
        <p:spPr>
          <a:xfrm>
            <a:off x="7802575" y="2560320"/>
            <a:ext cx="3520440" cy="411480"/>
          </a:xfrm>
          <a:prstGeom prst="rect">
            <a:avLst/>
          </a:prstGeom>
          <a:noFill/>
          <a:ln/>
        </p:spPr>
        <p:txBody>
          <a:bodyPr wrap="square" lIns="0" tIns="0" rIns="0" bIns="0" rtlCol="0" anchor="ctr"/>
          <a:lstStyle/>
          <a:p>
            <a:pPr indent="0" marL="0">
              <a:buNone/>
            </a:pPr>
            <a:r>
              <a:rPr lang="en-US" sz="2000" b="1" dirty="0">
                <a:solidFill>
                  <a:schemeClr val="tx1"/>
                </a:solidFill>
                <a:latin typeface="JetBrains Mono" pitchFamily="34" charset="0"/>
                <a:ea typeface="JetBrains Mono" pitchFamily="34" charset="-122"/>
                <a:cs typeface="JetBrains Mono" pitchFamily="34" charset="-120"/>
              </a:rPr>
              <a:t>the_codebase/</a:t>
            </a:r>
            <a:endParaRPr lang="en-US" sz="2000" dirty="0"/>
          </a:p>
        </p:txBody>
      </p:sp>
      <p:sp>
        <p:nvSpPr>
          <p:cNvPr id="10" name="Text 8"/>
          <p:cNvSpPr txBox="1"/>
          <p:nvPr/>
        </p:nvSpPr>
        <p:spPr>
          <a:xfrm>
            <a:off x="7802575" y="3108960"/>
            <a:ext cx="3520440" cy="1188720"/>
          </a:xfrm>
          <a:prstGeom prst="rect">
            <a:avLst/>
          </a:prstGeom>
          <a:noFill/>
          <a:ln/>
        </p:spPr>
        <p:txBody>
          <a:bodyPr wrap="square" lIns="0" tIns="0" rIns="0" bIns="0" rtlCol="0" anchor="t"/>
          <a:lstStyle/>
          <a:p>
            <a:pPr indent="0" marL="0">
              <a:buNone/>
            </a:pPr>
            <a:r>
              <a:rPr lang="en-US" sz="1800" dirty="0">
                <a:solidFill>
                  <a:schemeClr val="tx1"/>
                </a:solidFill>
              </a:rPr>
              <a:t>History, quirks and risks live in the code, and in heads that aren't around.</a:t>
            </a:r>
            <a:endParaRPr lang="en-US" sz="1800" dirty="0"/>
          </a:p>
        </p:txBody>
      </p:sp>
      <p:sp>
        <p:nvSpPr>
          <p:cNvPr id="11" name="Gap left"/>
          <p:cNvSpPr/>
          <p:nvPr/>
        </p:nvSpPr>
        <p:spPr>
          <a:xfrm>
            <a:off x="4709160" y="3291840"/>
            <a:ext cx="502920" cy="0"/>
          </a:xfrm>
          <a:prstGeom prst="line">
            <a:avLst/>
          </a:prstGeom>
          <a:noFill/>
          <a:ln w="19050">
            <a:solidFill>
              <a:schemeClr val="accent5"/>
            </a:solidFill>
            <a:prstDash val="dash"/>
          </a:ln>
        </p:spPr>
      </p:sp>
      <p:sp>
        <p:nvSpPr>
          <p:cNvPr id="12" name="Gap right"/>
          <p:cNvSpPr/>
          <p:nvPr/>
        </p:nvSpPr>
        <p:spPr>
          <a:xfrm>
            <a:off x="6979615" y="3291840"/>
            <a:ext cx="502920" cy="0"/>
          </a:xfrm>
          <a:prstGeom prst="line">
            <a:avLst/>
          </a:prstGeom>
          <a:noFill/>
          <a:ln w="19050">
            <a:solidFill>
              <a:schemeClr val="accent5"/>
            </a:solidFill>
            <a:prstDash val="dash"/>
          </a:ln>
        </p:spPr>
      </p:sp>
      <p:sp>
        <p:nvSpPr>
          <p:cNvPr id="13" name="Gap label"/>
          <p:cNvSpPr txBox="1"/>
          <p:nvPr/>
        </p:nvSpPr>
        <p:spPr>
          <a:xfrm>
            <a:off x="5257800" y="2926080"/>
            <a:ext cx="1676095" cy="731520"/>
          </a:xfrm>
          <a:prstGeom prst="rect">
            <a:avLst/>
          </a:prstGeom>
          <a:noFill/>
          <a:ln/>
        </p:spPr>
        <p:txBody>
          <a:bodyPr wrap="square" lIns="0" tIns="0" rIns="0" bIns="0" rtlCol="0" anchor="ctr"/>
          <a:lstStyle/>
          <a:p>
            <a:pPr algn="ctr" indent="0" marL="0">
              <a:buNone/>
            </a:pPr>
            <a:r>
              <a:rPr lang="en-US" sz="1500" dirty="0">
                <a:solidFill>
                  <a:schemeClr val="tx2"/>
                </a:solidFill>
                <a:latin typeface="JetBrains Mono" pitchFamily="34" charset="0"/>
                <a:ea typeface="JetBrains Mono" pitchFamily="34" charset="-122"/>
                <a:cs typeface="JetBrains Mono" pitchFamily="34" charset="-120"/>
              </a:rPr>
              <a:t>no map</a:t>
            </a:r>
            <a:endParaRPr lang="en-US" sz="1500" dirty="0"/>
          </a:p>
          <a:p>
            <a:pPr algn="ctr" indent="0" marL="0">
              <a:buNone/>
            </a:pPr>
            <a:r>
              <a:rPr lang="en-US" sz="1500" dirty="0">
                <a:solidFill>
                  <a:schemeClr val="tx2"/>
                </a:solidFill>
                <a:latin typeface="JetBrains Mono" pitchFamily="34" charset="0"/>
                <a:ea typeface="JetBrains Mono" pitchFamily="34" charset="-122"/>
                <a:cs typeface="JetBrains Mono" pitchFamily="34" charset="-120"/>
              </a:rPr>
              <a:t>no guide</a:t>
            </a:r>
            <a:endParaRPr lang="en-US" sz="1500" dirty="0"/>
          </a:p>
        </p:txBody>
      </p:sp>
      <p:sp>
        <p:nvSpPr>
          <p:cNvPr id="14" name="Text 12"/>
          <p:cNvSpPr txBox="1"/>
          <p:nvPr/>
        </p:nvSpPr>
        <p:spPr>
          <a:xfrm>
            <a:off x="548640" y="4800600"/>
            <a:ext cx="11094415" cy="457200"/>
          </a:xfrm>
          <a:prstGeom prst="rect">
            <a:avLst/>
          </a:prstGeom>
          <a:noFill/>
          <a:ln/>
        </p:spPr>
        <p:txBody>
          <a:bodyPr wrap="square" lIns="0" tIns="0" rIns="0" bIns="0" rtlCol="0" anchor="ctr"/>
          <a:lstStyle/>
          <a:p>
            <a:pPr marL="254000" indent="-254000">
              <a:spcAft>
                <a:spcPts val="1000"/>
              </a:spcAft>
              <a:buClr>
                <a:schemeClr val="tx2"/>
              </a:buClr>
              <a:buSzPct val="100000"/>
              <a:buFont typeface="JetBrains Mono"/>
              <a:buChar char="&gt;"/>
            </a:pPr>
            <a:r>
              <a:rPr lang="en-US" sz="1800" dirty="0">
                <a:solidFill>
                  <a:schemeClr val="tx1"/>
                </a:solidFill>
              </a:rPr>
              <a:t>Reading code cold is slow and dull.</a:t>
            </a:r>
            <a:endParaRPr lang="en-US" sz="18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latin typeface="JetBrains Mono"/>
                <a:ea typeface="JetBrains Mono"/>
                <a:cs typeface="JetBrains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ab"/>
          <p:cNvSpPr txBox="1"/>
          <p:nvPr/>
        </p:nvSpPr>
        <p:spPr>
          <a:xfrm>
            <a:off x="548640" y="320040"/>
            <a:ext cx="1958340" cy="310896"/>
          </a:xfrm>
          <a:prstGeom prst="roundRect">
            <a:avLst>
              <a:gd name="adj" fmla="val 14706"/>
            </a:avLst>
          </a:prstGeom>
          <a:solidFill>
            <a:schemeClr val="bg1"/>
          </a:solidFill>
          <a:ln w="9525">
            <a:solidFill>
              <a:schemeClr val="accent4"/>
            </a:solidFill>
          </a:ln>
        </p:spPr>
        <p:txBody>
          <a:bodyPr wrap="square" lIns="0" tIns="0" rIns="0" bIns="0" rtlCol="0" anchor="ctr"/>
          <a:lstStyle/>
          <a:p>
            <a:pPr algn="ctr" indent="0" marL="0">
              <a:buNone/>
            </a:pPr>
            <a:r>
              <a:rPr lang="en-US" sz="1100" dirty="0">
                <a:solidFill>
                  <a:schemeClr val="tx2"/>
                </a:solidFill>
                <a:latin typeface="JetBrains Mono" pitchFamily="34" charset="0"/>
                <a:ea typeface="JetBrains Mono" pitchFamily="34" charset="-122"/>
                <a:cs typeface="JetBrains Mono" pitchFamily="34" charset="-120"/>
              </a:rPr>
              <a:t>slides/03_bridge.md</a:t>
            </a:r>
            <a:endParaRPr lang="en-US" sz="1100" dirty="0"/>
          </a:p>
        </p:txBody>
      </p:sp>
      <p:sp>
        <p:nvSpPr>
          <p:cNvPr id="3" name="Text 0"/>
          <p:cNvSpPr/>
          <p:nvPr>
            <p:ph idx="100" type="title" hasCustomPrompt="1"/>
          </p:nvPr>
        </p:nvSpPr>
        <p:spPr>
          <a:xfrm>
            <a:off x="548640" y="868680"/>
            <a:ext cx="11094415" cy="640080"/>
          </a:xfrm>
          <a:prstGeom prst="rect">
            <a:avLst/>
          </a:prstGeom>
          <a:noFill/>
          <a:ln/>
        </p:spPr>
        <p:txBody>
          <a:bodyPr wrap="square" lIns="0" tIns="0" rIns="0" bIns="0" rtlCol="0" anchor="ctr"/>
          <a:lstStyle/>
          <a:p>
            <a:pPr algn="l" indent="0" marL="0">
              <a:buNone/>
            </a:pPr>
            <a:r>
              <a:rPr lang="en-US" sz="3600" b="1" dirty="0">
                <a:solidFill>
                  <a:schemeClr val="tx1"/>
                </a:solidFill>
              </a:rPr>
              <a:t>tavern.bridge()</a:t>
            </a:r>
            <a:endParaRPr lang="en-US" sz="3600" dirty="0"/>
          </a:p>
        </p:txBody>
      </p:sp>
      <p:sp>
        <p:nvSpPr>
          <p:cNvPr id="4" name="Text 0"/>
          <p:cNvSpPr/>
          <p:nvPr>
            <p:ph idx="101" type="body" hasCustomPrompt="1"/>
          </p:nvPr>
        </p:nvSpPr>
        <p:spPr>
          <a:xfrm>
            <a:off x="548640" y="1536192"/>
            <a:ext cx="11094415" cy="329184"/>
          </a:xfrm>
          <a:prstGeom prst="rect">
            <a:avLst/>
          </a:prstGeom>
          <a:noFill/>
          <a:ln/>
        </p:spPr>
        <p:txBody>
          <a:bodyPr wrap="square" lIns="0" tIns="0" rIns="0" bIns="0" rtlCol="0" anchor="ctr"/>
          <a:lstStyle/>
          <a:p>
            <a:pPr indent="0" marL="0">
              <a:buNone/>
            </a:pPr>
            <a:r>
              <a:rPr lang="en-US" sz="1400" dirty="0">
                <a:solidFill>
                  <a:schemeClr val="tx2"/>
                </a:solidFill>
                <a:latin typeface="JetBrains Mono" pitchFamily="34" charset="0"/>
                <a:ea typeface="JetBrains Mono" pitchFamily="34" charset="-122"/>
                <a:cs typeface="JetBrains Mono" pitchFamily="34" charset="-120"/>
              </a:rPr>
              <a:t>// paste a GitHub link; every module becomes a character</a:t>
            </a:r>
            <a:endParaRPr lang="en-US" sz="1400" dirty="0"/>
          </a:p>
        </p:txBody>
      </p:sp>
      <p:sp>
        <p:nvSpPr>
          <p:cNvPr id="5" name="Text 3"/>
          <p:cNvSpPr txBox="1"/>
          <p:nvPr/>
        </p:nvSpPr>
        <p:spPr>
          <a:xfrm>
            <a:off x="548640" y="2240280"/>
            <a:ext cx="4754880" cy="2103120"/>
          </a:xfrm>
          <a:prstGeom prst="rect">
            <a:avLst/>
          </a:prstGeom>
          <a:noFill/>
          <a:ln/>
        </p:spPr>
        <p:txBody>
          <a:bodyPr wrap="square" lIns="0" tIns="0" rIns="0" bIns="0" rtlCol="0" anchor="t"/>
          <a:lstStyle/>
          <a:p>
            <a:pPr marL="254000" indent="-254000">
              <a:spcAft>
                <a:spcPts val="1000"/>
              </a:spcAft>
              <a:buClr>
                <a:schemeClr val="tx2"/>
              </a:buClr>
              <a:buSzPct val="100000"/>
              <a:buFont typeface="JetBrains Mono"/>
              <a:buChar char="&gt;"/>
            </a:pPr>
            <a:r>
              <a:rPr lang="en-US" sz="1600" dirty="0">
                <a:solidFill>
                  <a:schemeClr val="tx2"/>
                </a:solidFill>
                <a:latin typeface="JetBrains Mono" pitchFamily="34" charset="0"/>
                <a:ea typeface="JetBrains Mono" pitchFamily="34" charset="-122"/>
                <a:cs typeface="JetBrains Mono" pitchFamily="34" charset="-120"/>
              </a:rPr>
              <a:t>left    </a:t>
            </a:r>
            <a:r>
              <a:rPr lang="en-US" sz="1600" dirty="0">
                <a:solidFill>
                  <a:schemeClr val="tx1"/>
                </a:solidFill>
              </a:rPr>
              <a:t>folder tree, a face per module</a:t>
            </a:r>
            <a:endParaRPr lang="en-US" sz="1600" dirty="0"/>
          </a:p>
          <a:p>
            <a:pPr marL="254000" indent="-254000">
              <a:spcAft>
                <a:spcPts val="1000"/>
              </a:spcAft>
              <a:buClr>
                <a:schemeClr val="tx2"/>
              </a:buClr>
              <a:buSzPct val="100000"/>
              <a:buFont typeface="JetBrains Mono"/>
              <a:buChar char="&gt;"/>
            </a:pPr>
            <a:r>
              <a:rPr lang="en-US" sz="1600" dirty="0">
                <a:solidFill>
                  <a:schemeClr val="tx2"/>
                </a:solidFill>
                <a:latin typeface="JetBrains Mono" pitchFamily="34" charset="0"/>
                <a:ea typeface="JetBrains Mono" pitchFamily="34" charset="-122"/>
                <a:cs typeface="JetBrains Mono" pitchFamily="34" charset="-120"/>
              </a:rPr>
              <a:t>middle  </a:t>
            </a:r>
            <a:r>
              <a:rPr lang="en-US" sz="1600" dirty="0">
                <a:solidFill>
                  <a:schemeClr val="tx1"/>
                </a:solidFill>
              </a:rPr>
              <a:t>the code</a:t>
            </a:r>
            <a:endParaRPr lang="en-US" sz="1600" dirty="0"/>
          </a:p>
          <a:p>
            <a:pPr marL="254000" indent="-254000">
              <a:spcAft>
                <a:spcPts val="1000"/>
              </a:spcAft>
              <a:buClr>
                <a:schemeClr val="tx2"/>
              </a:buClr>
              <a:buSzPct val="100000"/>
              <a:buFont typeface="JetBrains Mono"/>
              <a:buChar char="&gt;"/>
            </a:pPr>
            <a:r>
              <a:rPr lang="en-US" sz="1600" dirty="0">
                <a:solidFill>
                  <a:schemeClr val="tx2"/>
                </a:solidFill>
                <a:latin typeface="JetBrains Mono" pitchFamily="34" charset="0"/>
                <a:ea typeface="JetBrains Mono" pitchFamily="34" charset="-122"/>
                <a:cs typeface="JetBrains Mono" pitchFamily="34" charset="-120"/>
              </a:rPr>
              <a:t>right   </a:t>
            </a:r>
            <a:r>
              <a:rPr lang="en-US" sz="1600" dirty="0">
                <a:solidFill>
                  <a:schemeClr val="tx1"/>
                </a:solidFill>
              </a:rPr>
              <a:t>chat with that module's character</a:t>
            </a:r>
            <a:endParaRPr lang="en-US" sz="1600" dirty="0"/>
          </a:p>
          <a:p>
            <a:pPr marL="254000" indent="-254000">
              <a:spcAft>
                <a:spcPts val="1000"/>
              </a:spcAft>
              <a:buClr>
                <a:schemeClr val="tx2"/>
              </a:buClr>
              <a:buSzPct val="100000"/>
              <a:buFont typeface="JetBrains Mono"/>
              <a:buChar char="&gt;"/>
            </a:pPr>
            <a:r>
              <a:rPr lang="en-US" sz="1600" dirty="0">
                <a:solidFill>
                  <a:schemeClr val="tx1"/>
                </a:solidFill>
              </a:rPr>
              <a:t>Ask a question; the lines it cites light up while it talks.</a:t>
            </a:r>
            <a:endParaRPr lang="en-US" sz="1600" dirty="0"/>
          </a:p>
        </p:txBody>
      </p:sp>
      <p:sp>
        <p:nvSpPr>
          <p:cNvPr id="6" name="Text 4"/>
          <p:cNvSpPr txBox="1"/>
          <p:nvPr/>
        </p:nvSpPr>
        <p:spPr>
          <a:xfrm>
            <a:off x="548640" y="4526280"/>
            <a:ext cx="4754880" cy="320040"/>
          </a:xfrm>
          <a:prstGeom prst="rect">
            <a:avLst/>
          </a:prstGeom>
          <a:noFill/>
          <a:ln/>
        </p:spPr>
        <p:txBody>
          <a:bodyPr wrap="square" lIns="0" tIns="0" rIns="0" bIns="0" rtlCol="0" anchor="t"/>
          <a:lstStyle/>
          <a:p>
            <a:pPr indent="0" marL="0">
              <a:buNone/>
            </a:pPr>
            <a:r>
              <a:rPr lang="en-US" sz="1300" dirty="0">
                <a:solidFill>
                  <a:schemeClr val="tx2"/>
                </a:solidFill>
                <a:latin typeface="JetBrains Mono" pitchFamily="34" charset="0"/>
                <a:ea typeface="JetBrains Mono" pitchFamily="34" charset="-122"/>
                <a:cs typeface="JetBrains Mono" pitchFamily="34" charset="-120"/>
              </a:rPr>
              <a:t>// the interface is fiction. the facts are not.</a:t>
            </a:r>
            <a:endParaRPr lang="en-US" sz="1300" dirty="0"/>
          </a:p>
        </p:txBody>
      </p:sp>
      <p:sp>
        <p:nvSpPr>
          <p:cNvPr id="7" name="Screenshot placeholder"/>
          <p:cNvSpPr txBox="1"/>
          <p:nvPr/>
        </p:nvSpPr>
        <p:spPr>
          <a:xfrm>
            <a:off x="5760720" y="2240280"/>
            <a:ext cx="5882335" cy="3794760"/>
          </a:xfrm>
          <a:prstGeom prst="roundRect">
            <a:avLst>
              <a:gd name="adj" fmla="val 1928"/>
            </a:avLst>
          </a:prstGeom>
          <a:solidFill>
            <a:schemeClr val="bg1"/>
          </a:solidFill>
          <a:ln w="12700">
            <a:solidFill>
              <a:schemeClr val="accent5"/>
            </a:solidFill>
            <a:prstDash val="dash"/>
          </a:ln>
        </p:spPr>
        <p:txBody>
          <a:bodyPr wrap="square" lIns="152400" tIns="152400" rIns="152400" bIns="152400" rtlCol="0" anchor="ctr"/>
          <a:lstStyle/>
          <a:p>
            <a:pPr algn="ctr" indent="0" marL="0">
              <a:buNone/>
            </a:pPr>
            <a:r>
              <a:rPr lang="en-US" sz="1300" dirty="0">
                <a:solidFill>
                  <a:schemeClr val="tx2"/>
                </a:solidFill>
                <a:latin typeface="JetBrains Mono" pitchFamily="34" charset="0"/>
                <a:ea typeface="JetBrains Mono" pitchFamily="34" charset="-122"/>
                <a:cs typeface="JetBrains Mono" pitchFamily="34" charset="-120"/>
              </a:rPr>
              <a:t>[Screenshot: three-panel view mid-answer, lines highlighted]</a:t>
            </a:r>
            <a:endParaRPr lang="en-US" sz="13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latin typeface="JetBrains Mono"/>
                <a:ea typeface="JetBrains Mono"/>
                <a:cs typeface="JetBrains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ab"/>
          <p:cNvSpPr txBox="1"/>
          <p:nvPr/>
        </p:nvSpPr>
        <p:spPr>
          <a:xfrm>
            <a:off x="548640" y="320040"/>
            <a:ext cx="2377440" cy="310896"/>
          </a:xfrm>
          <a:prstGeom prst="roundRect">
            <a:avLst>
              <a:gd name="adj" fmla="val 14706"/>
            </a:avLst>
          </a:prstGeom>
          <a:solidFill>
            <a:schemeClr val="bg1"/>
          </a:solidFill>
          <a:ln w="9525">
            <a:solidFill>
              <a:schemeClr val="accent4"/>
            </a:solidFill>
          </a:ln>
        </p:spPr>
        <p:txBody>
          <a:bodyPr wrap="square" lIns="0" tIns="0" rIns="0" bIns="0" rtlCol="0" anchor="ctr"/>
          <a:lstStyle/>
          <a:p>
            <a:pPr algn="ctr" indent="0" marL="0">
              <a:buNone/>
            </a:pPr>
            <a:r>
              <a:rPr lang="en-US" sz="1100" dirty="0">
                <a:solidFill>
                  <a:schemeClr val="tx2"/>
                </a:solidFill>
                <a:latin typeface="JetBrains Mono" pitchFamily="34" charset="0"/>
                <a:ea typeface="JetBrains Mono" pitchFamily="34" charset="-122"/>
                <a:cs typeface="JetBrains Mono" pitchFamily="34" charset="-120"/>
              </a:rPr>
              <a:t>slides/04_built_today.md</a:t>
            </a:r>
            <a:endParaRPr lang="en-US" sz="1100" dirty="0"/>
          </a:p>
        </p:txBody>
      </p:sp>
      <p:sp>
        <p:nvSpPr>
          <p:cNvPr id="3" name="Text 0"/>
          <p:cNvSpPr/>
          <p:nvPr>
            <p:ph idx="100" type="title" hasCustomPrompt="1"/>
          </p:nvPr>
        </p:nvSpPr>
        <p:spPr>
          <a:xfrm>
            <a:off x="548640" y="868680"/>
            <a:ext cx="11094415" cy="640080"/>
          </a:xfrm>
          <a:prstGeom prst="rect">
            <a:avLst/>
          </a:prstGeom>
          <a:noFill/>
          <a:ln/>
        </p:spPr>
        <p:txBody>
          <a:bodyPr wrap="square" lIns="0" tIns="0" rIns="0" bIns="0" rtlCol="0" anchor="ctr"/>
          <a:lstStyle/>
          <a:p>
            <a:pPr algn="l" indent="0" marL="0">
              <a:buNone/>
            </a:pPr>
            <a:r>
              <a:rPr lang="en-US" sz="3600" b="1" dirty="0">
                <a:solidFill>
                  <a:schemeClr val="tx1"/>
                </a:solidFill>
              </a:rPr>
              <a:t>built_today.ts</a:t>
            </a:r>
            <a:endParaRPr lang="en-US" sz="3600" dirty="0"/>
          </a:p>
        </p:txBody>
      </p:sp>
      <p:sp>
        <p:nvSpPr>
          <p:cNvPr id="4" name="Text 0"/>
          <p:cNvSpPr/>
          <p:nvPr>
            <p:ph idx="101" type="body" hasCustomPrompt="1"/>
          </p:nvPr>
        </p:nvSpPr>
        <p:spPr>
          <a:xfrm>
            <a:off x="548640" y="1536192"/>
            <a:ext cx="11094415" cy="329184"/>
          </a:xfrm>
          <a:prstGeom prst="rect">
            <a:avLst/>
          </a:prstGeom>
          <a:noFill/>
          <a:ln/>
        </p:spPr>
        <p:txBody>
          <a:bodyPr wrap="square" lIns="0" tIns="0" rIns="0" bIns="0" rtlCol="0" anchor="ctr"/>
          <a:lstStyle/>
          <a:p>
            <a:pPr indent="0" marL="0">
              <a:buNone/>
            </a:pPr>
            <a:r>
              <a:rPr lang="en-US" sz="1400" dirty="0">
                <a:solidFill>
                  <a:schemeClr val="tx2"/>
                </a:solidFill>
                <a:latin typeface="JetBrains Mono" pitchFamily="34" charset="0"/>
                <a:ea typeface="JetBrains Mono" pitchFamily="34" charset="-122"/>
                <a:cs typeface="JetBrains Mono" pitchFamily="34" charset="-120"/>
              </a:rPr>
              <a:t>// prototype, live now</a:t>
            </a:r>
            <a:endParaRPr lang="en-US" sz="1400" dirty="0"/>
          </a:p>
        </p:txBody>
      </p:sp>
      <p:sp>
        <p:nvSpPr>
          <p:cNvPr id="5" name="Text 3"/>
          <p:cNvSpPr txBox="1"/>
          <p:nvPr/>
        </p:nvSpPr>
        <p:spPr>
          <a:xfrm>
            <a:off x="548640" y="2194560"/>
            <a:ext cx="1051560" cy="274320"/>
          </a:xfrm>
          <a:prstGeom prst="rect">
            <a:avLst/>
          </a:prstGeom>
          <a:noFill/>
          <a:ln/>
        </p:spPr>
        <p:txBody>
          <a:bodyPr wrap="square" lIns="0" tIns="0" rIns="0" bIns="0" rtlCol="0" anchor="t"/>
          <a:lstStyle/>
          <a:p>
            <a:pPr indent="0" marL="0">
              <a:buNone/>
            </a:pPr>
            <a:r>
              <a:rPr lang="en-US" sz="1500" b="1" dirty="0">
                <a:solidFill>
                  <a:schemeClr val="tx1"/>
                </a:solidFill>
                <a:latin typeface="JetBrains Mono" pitchFamily="34" charset="0"/>
                <a:ea typeface="JetBrains Mono" pitchFamily="34" charset="-122"/>
                <a:cs typeface="JetBrains Mono" pitchFamily="34" charset="-120"/>
              </a:rPr>
              <a:t>ingest</a:t>
            </a:r>
            <a:endParaRPr lang="en-US" sz="1500" dirty="0"/>
          </a:p>
        </p:txBody>
      </p:sp>
      <p:sp>
        <p:nvSpPr>
          <p:cNvPr id="6" name="Text 4"/>
          <p:cNvSpPr txBox="1"/>
          <p:nvPr/>
        </p:nvSpPr>
        <p:spPr>
          <a:xfrm>
            <a:off x="1691640" y="2194560"/>
            <a:ext cx="4480560" cy="658368"/>
          </a:xfrm>
          <a:prstGeom prst="rect">
            <a:avLst/>
          </a:prstGeom>
          <a:noFill/>
          <a:ln/>
        </p:spPr>
        <p:txBody>
          <a:bodyPr wrap="square" lIns="0" tIns="0" rIns="0" bIns="0" rtlCol="0" anchor="t"/>
          <a:lstStyle/>
          <a:p>
            <a:pPr indent="0" marL="0">
              <a:buNone/>
            </a:pPr>
            <a:r>
              <a:rPr lang="en-US" sz="1500" dirty="0">
                <a:solidFill>
                  <a:schemeClr val="tx1"/>
                </a:solidFill>
              </a:rPr>
              <a:t>Any public GitHub repo in seconds, minus dependencies, lock files and binaries.</a:t>
            </a:r>
            <a:endParaRPr lang="en-US" sz="1500" dirty="0"/>
          </a:p>
        </p:txBody>
      </p:sp>
      <p:sp>
        <p:nvSpPr>
          <p:cNvPr id="7" name="Text 5"/>
          <p:cNvSpPr txBox="1"/>
          <p:nvPr/>
        </p:nvSpPr>
        <p:spPr>
          <a:xfrm>
            <a:off x="548640" y="2980944"/>
            <a:ext cx="1051560" cy="274320"/>
          </a:xfrm>
          <a:prstGeom prst="rect">
            <a:avLst/>
          </a:prstGeom>
          <a:noFill/>
          <a:ln/>
        </p:spPr>
        <p:txBody>
          <a:bodyPr wrap="square" lIns="0" tIns="0" rIns="0" bIns="0" rtlCol="0" anchor="t"/>
          <a:lstStyle/>
          <a:p>
            <a:pPr indent="0" marL="0">
              <a:buNone/>
            </a:pPr>
            <a:r>
              <a:rPr lang="en-US" sz="1500" b="1" dirty="0">
                <a:solidFill>
                  <a:schemeClr val="tx1"/>
                </a:solidFill>
                <a:latin typeface="JetBrains Mono" pitchFamily="34" charset="0"/>
                <a:ea typeface="JetBrains Mono" pitchFamily="34" charset="-122"/>
                <a:cs typeface="JetBrains Mono" pitchFamily="34" charset="-120"/>
              </a:rPr>
              <a:t>faces</a:t>
            </a:r>
            <a:endParaRPr lang="en-US" sz="1500" dirty="0"/>
          </a:p>
        </p:txBody>
      </p:sp>
      <p:sp>
        <p:nvSpPr>
          <p:cNvPr id="8" name="Text 6"/>
          <p:cNvSpPr txBox="1"/>
          <p:nvPr/>
        </p:nvSpPr>
        <p:spPr>
          <a:xfrm>
            <a:off x="1691640" y="2980944"/>
            <a:ext cx="4480560" cy="658368"/>
          </a:xfrm>
          <a:prstGeom prst="rect">
            <a:avLst/>
          </a:prstGeom>
          <a:noFill/>
          <a:ln/>
        </p:spPr>
        <p:txBody>
          <a:bodyPr wrap="square" lIns="0" tIns="0" rIns="0" bIns="0" rtlCol="0" anchor="t"/>
          <a:lstStyle/>
          <a:p>
            <a:pPr indent="0" marL="0">
              <a:buNone/>
            </a:pPr>
            <a:r>
              <a:rPr lang="en-US" sz="1500" dirty="0">
                <a:solidFill>
                  <a:schemeClr val="tx1"/>
                </a:solidFill>
              </a:rPr>
              <a:t>One character per module, its face drawn from real code stats.</a:t>
            </a:r>
            <a:endParaRPr lang="en-US" sz="1500" dirty="0"/>
          </a:p>
        </p:txBody>
      </p:sp>
      <p:sp>
        <p:nvSpPr>
          <p:cNvPr id="9" name="Text 7"/>
          <p:cNvSpPr txBox="1"/>
          <p:nvPr/>
        </p:nvSpPr>
        <p:spPr>
          <a:xfrm>
            <a:off x="548640" y="3767328"/>
            <a:ext cx="1051560" cy="274320"/>
          </a:xfrm>
          <a:prstGeom prst="rect">
            <a:avLst/>
          </a:prstGeom>
          <a:noFill/>
          <a:ln/>
        </p:spPr>
        <p:txBody>
          <a:bodyPr wrap="square" lIns="0" tIns="0" rIns="0" bIns="0" rtlCol="0" anchor="t"/>
          <a:lstStyle/>
          <a:p>
            <a:pPr indent="0" marL="0">
              <a:buNone/>
            </a:pPr>
            <a:r>
              <a:rPr lang="en-US" sz="1500" b="1" dirty="0">
                <a:solidFill>
                  <a:schemeClr val="tx1"/>
                </a:solidFill>
                <a:latin typeface="JetBrains Mono" pitchFamily="34" charset="0"/>
                <a:ea typeface="JetBrains Mono" pitchFamily="34" charset="-122"/>
                <a:cs typeface="JetBrains Mono" pitchFamily="34" charset="-120"/>
              </a:rPr>
              <a:t>chat</a:t>
            </a:r>
            <a:endParaRPr lang="en-US" sz="1500" dirty="0"/>
          </a:p>
        </p:txBody>
      </p:sp>
      <p:sp>
        <p:nvSpPr>
          <p:cNvPr id="10" name="Text 8"/>
          <p:cNvSpPr txBox="1"/>
          <p:nvPr/>
        </p:nvSpPr>
        <p:spPr>
          <a:xfrm>
            <a:off x="1691640" y="3767328"/>
            <a:ext cx="4480560" cy="658368"/>
          </a:xfrm>
          <a:prstGeom prst="rect">
            <a:avLst/>
          </a:prstGeom>
          <a:noFill/>
          <a:ln/>
        </p:spPr>
        <p:txBody>
          <a:bodyPr wrap="square" lIns="0" tIns="0" rIns="0" bIns="0" rtlCol="0" anchor="t"/>
          <a:lstStyle/>
          <a:p>
            <a:pPr indent="0" marL="0">
              <a:buNone/>
            </a:pPr>
            <a:r>
              <a:rPr lang="en-US" sz="1500" dirty="0">
                <a:solidFill>
                  <a:schemeClr val="tx1"/>
                </a:solidFill>
              </a:rPr>
              <a:t>Every claim cites file and line. Citations are validated, then highlighted live.</a:t>
            </a:r>
            <a:endParaRPr lang="en-US" sz="1500" dirty="0"/>
          </a:p>
        </p:txBody>
      </p:sp>
      <p:sp>
        <p:nvSpPr>
          <p:cNvPr id="11" name="Text 9"/>
          <p:cNvSpPr txBox="1"/>
          <p:nvPr/>
        </p:nvSpPr>
        <p:spPr>
          <a:xfrm>
            <a:off x="548640" y="4553712"/>
            <a:ext cx="1051560" cy="274320"/>
          </a:xfrm>
          <a:prstGeom prst="rect">
            <a:avLst/>
          </a:prstGeom>
          <a:noFill/>
          <a:ln/>
        </p:spPr>
        <p:txBody>
          <a:bodyPr wrap="square" lIns="0" tIns="0" rIns="0" bIns="0" rtlCol="0" anchor="t"/>
          <a:lstStyle/>
          <a:p>
            <a:pPr indent="0" marL="0">
              <a:buNone/>
            </a:pPr>
            <a:r>
              <a:rPr lang="en-US" sz="1500" b="1" dirty="0">
                <a:solidFill>
                  <a:schemeClr val="tx1"/>
                </a:solidFill>
                <a:latin typeface="JetBrains Mono" pitchFamily="34" charset="0"/>
                <a:ea typeface="JetBrains Mono" pitchFamily="34" charset="-122"/>
                <a:cs typeface="JetBrains Mono" pitchFamily="34" charset="-120"/>
              </a:rPr>
              <a:t>spice</a:t>
            </a:r>
            <a:endParaRPr lang="en-US" sz="1500" dirty="0"/>
          </a:p>
        </p:txBody>
      </p:sp>
      <p:sp>
        <p:nvSpPr>
          <p:cNvPr id="12" name="Text 10"/>
          <p:cNvSpPr txBox="1"/>
          <p:nvPr/>
        </p:nvSpPr>
        <p:spPr>
          <a:xfrm>
            <a:off x="1691640" y="4553712"/>
            <a:ext cx="4480560" cy="658368"/>
          </a:xfrm>
          <a:prstGeom prst="rect">
            <a:avLst/>
          </a:prstGeom>
          <a:noFill/>
          <a:ln/>
        </p:spPr>
        <p:txBody>
          <a:bodyPr wrap="square" lIns="0" tIns="0" rIns="0" bIns="0" rtlCol="0" anchor="t"/>
          <a:lstStyle/>
          <a:p>
            <a:pPr indent="0" marL="0">
              <a:buNone/>
            </a:pPr>
            <a:r>
              <a:rPr lang="en-US" sz="1500" dirty="0">
                <a:solidFill>
                  <a:schemeClr val="tx1"/>
                </a:solidFill>
              </a:rPr>
              <a:t>Clean, Spicy or Unhinged tone. Beginner or Expert depth. In-browser gibberish voices.</a:t>
            </a:r>
            <a:endParaRPr lang="en-US" sz="1500" dirty="0"/>
          </a:p>
        </p:txBody>
      </p:sp>
      <p:sp>
        <p:nvSpPr>
          <p:cNvPr id="13" name="Text 11"/>
          <p:cNvSpPr txBox="1"/>
          <p:nvPr/>
        </p:nvSpPr>
        <p:spPr>
          <a:xfrm>
            <a:off x="548640" y="5340096"/>
            <a:ext cx="1051560" cy="274320"/>
          </a:xfrm>
          <a:prstGeom prst="rect">
            <a:avLst/>
          </a:prstGeom>
          <a:noFill/>
          <a:ln/>
        </p:spPr>
        <p:txBody>
          <a:bodyPr wrap="square" lIns="0" tIns="0" rIns="0" bIns="0" rtlCol="0" anchor="t"/>
          <a:lstStyle/>
          <a:p>
            <a:pPr indent="0" marL="0">
              <a:buNone/>
            </a:pPr>
            <a:r>
              <a:rPr lang="en-US" sz="1500" b="1" dirty="0">
                <a:solidFill>
                  <a:schemeClr val="tx1"/>
                </a:solidFill>
                <a:latin typeface="JetBrains Mono" pitchFamily="34" charset="0"/>
                <a:ea typeface="JetBrains Mono" pitchFamily="34" charset="-122"/>
                <a:cs typeface="JetBrains Mono" pitchFamily="34" charset="-120"/>
              </a:rPr>
              <a:t>fallback</a:t>
            </a:r>
            <a:endParaRPr lang="en-US" sz="1500" dirty="0"/>
          </a:p>
        </p:txBody>
      </p:sp>
      <p:sp>
        <p:nvSpPr>
          <p:cNvPr id="14" name="Text 12"/>
          <p:cNvSpPr txBox="1"/>
          <p:nvPr/>
        </p:nvSpPr>
        <p:spPr>
          <a:xfrm>
            <a:off x="1691640" y="5340096"/>
            <a:ext cx="4480560" cy="658368"/>
          </a:xfrm>
          <a:prstGeom prst="rect">
            <a:avLst/>
          </a:prstGeom>
          <a:noFill/>
          <a:ln/>
        </p:spPr>
        <p:txBody>
          <a:bodyPr wrap="square" lIns="0" tIns="0" rIns="0" bIns="0" rtlCol="0" anchor="t"/>
          <a:lstStyle/>
          <a:p>
            <a:pPr indent="0" marL="0">
              <a:buNone/>
            </a:pPr>
            <a:r>
              <a:rPr lang="en-US" sz="1500" dirty="0">
                <a:solidFill>
                  <a:schemeClr val="tx1"/>
                </a:solidFill>
              </a:rPr>
              <a:t>Gemini first, OpenAI if it fails. Rate-limited. No code stored on our servers.</a:t>
            </a:r>
            <a:endParaRPr lang="en-US" sz="1500" dirty="0"/>
          </a:p>
        </p:txBody>
      </p:sp>
      <p:sp>
        <p:nvSpPr>
          <p:cNvPr id="15" name="Face rules"/>
          <p:cNvSpPr/>
          <p:nvPr/>
        </p:nvSpPr>
        <p:spPr>
          <a:xfrm>
            <a:off x="6492240" y="2194560"/>
            <a:ext cx="5150815" cy="1873504"/>
          </a:xfrm>
          <a:prstGeom prst="roundRect">
            <a:avLst>
              <a:gd name="adj" fmla="val 3905"/>
            </a:avLst>
          </a:prstGeom>
          <a:solidFill>
            <a:schemeClr val="bg2"/>
          </a:solidFill>
          <a:ln w="9525">
            <a:solidFill>
              <a:schemeClr val="accent4"/>
            </a:solidFill>
            <a:prstDash val="solid"/>
          </a:ln>
        </p:spPr>
      </p:sp>
      <p:sp>
        <p:nvSpPr>
          <p:cNvPr id="16" name="Text 14"/>
          <p:cNvSpPr txBox="1"/>
          <p:nvPr/>
        </p:nvSpPr>
        <p:spPr>
          <a:xfrm>
            <a:off x="6693408" y="2304288"/>
            <a:ext cx="4748479" cy="237744"/>
          </a:xfrm>
          <a:prstGeom prst="rect">
            <a:avLst/>
          </a:prstGeom>
          <a:noFill/>
          <a:ln/>
        </p:spPr>
        <p:txBody>
          <a:bodyPr wrap="square" lIns="0" tIns="0" rIns="0" bIns="0" rtlCol="0" anchor="ctr"/>
          <a:lstStyle/>
          <a:p>
            <a:pPr indent="0" marL="0">
              <a:buNone/>
            </a:pPr>
            <a:r>
              <a:rPr lang="en-US" sz="1100" dirty="0">
                <a:solidFill>
                  <a:schemeClr val="tx2"/>
                </a:solidFill>
                <a:latin typeface="JetBrains Mono" pitchFamily="34" charset="0"/>
                <a:ea typeface="JetBrains Mono" pitchFamily="34" charset="-122"/>
                <a:cs typeface="JetBrains Mono" pitchFamily="34" charset="-120"/>
              </a:rPr>
              <a:t>codebase-tavern</a:t>
            </a:r>
            <a:endParaRPr lang="en-US" sz="1100" dirty="0"/>
          </a:p>
        </p:txBody>
      </p:sp>
      <p:sp>
        <p:nvSpPr>
          <p:cNvPr id="17" name="Text 15"/>
          <p:cNvSpPr txBox="1"/>
          <p:nvPr/>
        </p:nvSpPr>
        <p:spPr>
          <a:xfrm>
            <a:off x="6693408" y="2304288"/>
            <a:ext cx="4748479" cy="237744"/>
          </a:xfrm>
          <a:prstGeom prst="rect">
            <a:avLst/>
          </a:prstGeom>
          <a:noFill/>
          <a:ln/>
        </p:spPr>
        <p:txBody>
          <a:bodyPr wrap="square" lIns="0" tIns="0" rIns="0" bIns="0" rtlCol="0" anchor="ctr"/>
          <a:lstStyle/>
          <a:p>
            <a:pPr algn="r" indent="0" marL="0">
              <a:buNone/>
            </a:pPr>
            <a:r>
              <a:rPr lang="en-US" sz="1100" dirty="0">
                <a:solidFill>
                  <a:schemeClr val="accent1"/>
                </a:solidFill>
                <a:latin typeface="JetBrains Mono" pitchFamily="34" charset="0"/>
                <a:ea typeface="JetBrains Mono" pitchFamily="34" charset="-122"/>
                <a:cs typeface="JetBrains Mono" pitchFamily="34" charset="-120"/>
              </a:rPr>
              <a:t>[src/lib/characters.ts:37-41]</a:t>
            </a:r>
            <a:endParaRPr lang="en-US" sz="1100" dirty="0"/>
          </a:p>
        </p:txBody>
      </p:sp>
      <p:sp>
        <p:nvSpPr>
          <p:cNvPr id="18" name="Text 16"/>
          <p:cNvSpPr txBox="1"/>
          <p:nvPr/>
        </p:nvSpPr>
        <p:spPr>
          <a:xfrm>
            <a:off x="6583680" y="2615184"/>
            <a:ext cx="457200" cy="1270000"/>
          </a:xfrm>
          <a:prstGeom prst="rect">
            <a:avLst/>
          </a:prstGeom>
          <a:noFill/>
          <a:ln/>
        </p:spPr>
        <p:txBody>
          <a:bodyPr wrap="square" lIns="0" tIns="0" rIns="0" bIns="0" rtlCol="0" anchor="t"/>
          <a:lstStyle/>
          <a:p>
            <a:pPr algn="r" indent="0" marL="0">
              <a:lnSpc>
                <a:spcPts val="2000"/>
              </a:lnSpc>
              <a:buNone/>
            </a:pPr>
            <a:r>
              <a:rPr lang="en-US" sz="1300" dirty="0">
                <a:solidFill>
                  <a:schemeClr val="accent5"/>
                </a:solidFill>
                <a:latin typeface="JetBrains Mono" pitchFamily="34" charset="0"/>
                <a:ea typeface="JetBrains Mono" pitchFamily="34" charset="-122"/>
                <a:cs typeface="JetBrains Mono" pitchFamily="34" charset="-120"/>
              </a:rPr>
              <a:t>37</a:t>
            </a:r>
            <a:endParaRPr lang="en-US" sz="1300" dirty="0"/>
          </a:p>
          <a:p>
            <a:pPr algn="r" indent="0" marL="0">
              <a:lnSpc>
                <a:spcPts val="2000"/>
              </a:lnSpc>
              <a:buNone/>
            </a:pPr>
            <a:r>
              <a:rPr lang="en-US" sz="1300" dirty="0">
                <a:solidFill>
                  <a:schemeClr val="accent5"/>
                </a:solidFill>
                <a:latin typeface="JetBrains Mono" pitchFamily="34" charset="0"/>
                <a:ea typeface="JetBrains Mono" pitchFamily="34" charset="-122"/>
                <a:cs typeface="JetBrains Mono" pitchFamily="34" charset="-120"/>
              </a:rPr>
              <a:t>38</a:t>
            </a:r>
            <a:endParaRPr lang="en-US" sz="1300" dirty="0"/>
          </a:p>
          <a:p>
            <a:pPr algn="r" indent="0" marL="0">
              <a:lnSpc>
                <a:spcPts val="2000"/>
              </a:lnSpc>
              <a:buNone/>
            </a:pPr>
            <a:r>
              <a:rPr lang="en-US" sz="1300" dirty="0">
                <a:solidFill>
                  <a:schemeClr val="accent5"/>
                </a:solidFill>
                <a:latin typeface="JetBrains Mono" pitchFamily="34" charset="0"/>
                <a:ea typeface="JetBrains Mono" pitchFamily="34" charset="-122"/>
                <a:cs typeface="JetBrains Mono" pitchFamily="34" charset="-120"/>
              </a:rPr>
              <a:t>39</a:t>
            </a:r>
            <a:endParaRPr lang="en-US" sz="1300" dirty="0"/>
          </a:p>
          <a:p>
            <a:pPr algn="r" indent="0" marL="0">
              <a:lnSpc>
                <a:spcPts val="2000"/>
              </a:lnSpc>
              <a:buNone/>
            </a:pPr>
            <a:r>
              <a:rPr lang="en-US" sz="1300" dirty="0">
                <a:solidFill>
                  <a:schemeClr val="accent5"/>
                </a:solidFill>
                <a:latin typeface="JetBrains Mono" pitchFamily="34" charset="0"/>
                <a:ea typeface="JetBrains Mono" pitchFamily="34" charset="-122"/>
                <a:cs typeface="JetBrains Mono" pitchFamily="34" charset="-120"/>
              </a:rPr>
              <a:t>40</a:t>
            </a:r>
            <a:endParaRPr lang="en-US" sz="1300" dirty="0"/>
          </a:p>
          <a:p>
            <a:pPr algn="r" indent="0" marL="0">
              <a:lnSpc>
                <a:spcPts val="2000"/>
              </a:lnSpc>
              <a:buNone/>
            </a:pPr>
            <a:r>
              <a:rPr lang="en-US" sz="1300" dirty="0">
                <a:solidFill>
                  <a:schemeClr val="accent5"/>
                </a:solidFill>
                <a:latin typeface="JetBrains Mono" pitchFamily="34" charset="0"/>
                <a:ea typeface="JetBrains Mono" pitchFamily="34" charset="-122"/>
                <a:cs typeface="JetBrains Mono" pitchFamily="34" charset="-120"/>
              </a:rPr>
              <a:t>41</a:t>
            </a:r>
            <a:endParaRPr lang="en-US" sz="1300" dirty="0"/>
          </a:p>
        </p:txBody>
      </p:sp>
      <p:sp>
        <p:nvSpPr>
          <p:cNvPr id="19" name="Text 17"/>
          <p:cNvSpPr txBox="1"/>
          <p:nvPr/>
        </p:nvSpPr>
        <p:spPr>
          <a:xfrm>
            <a:off x="7223760" y="2615184"/>
            <a:ext cx="4282135" cy="1270000"/>
          </a:xfrm>
          <a:prstGeom prst="rect">
            <a:avLst/>
          </a:prstGeom>
          <a:noFill/>
          <a:ln/>
        </p:spPr>
        <p:txBody>
          <a:bodyPr wrap="square" lIns="0" tIns="0" rIns="0" bIns="0" rtlCol="0" anchor="t"/>
          <a:lstStyle/>
          <a:p>
            <a:pPr indent="0" marL="0">
              <a:lnSpc>
                <a:spcPts val="2000"/>
              </a:lnSpc>
              <a:buNone/>
            </a:pPr>
            <a:r>
              <a:rPr lang="en-US" sz="1300" dirty="0">
                <a:solidFill>
                  <a:schemeClr val="tx1"/>
                </a:solidFill>
                <a:latin typeface="JetBrains Mono" pitchFamily="34" charset="0"/>
                <a:ea typeface="JetBrains Mono" pitchFamily="34" charset="-122"/>
                <a:cs typeface="JetBrains Mono" pitchFamily="34" charset="-120"/>
              </a:rPr>
              <a:t>width: sizeOf(s?.totalLines),</a:t>
            </a:r>
            <a:endParaRPr lang="en-US" sz="1300" dirty="0"/>
          </a:p>
          <a:p>
            <a:pPr indent="0" marL="0">
              <a:lnSpc>
                <a:spcPts val="2000"/>
              </a:lnSpc>
              <a:buNone/>
            </a:pPr>
            <a:r>
              <a:rPr lang="en-US" sz="1300" dirty="0">
                <a:solidFill>
                  <a:schemeClr val="tx1"/>
                </a:solidFill>
                <a:latin typeface="JetBrains Mono" pitchFamily="34" charset="0"/>
                <a:ea typeface="JetBrains Mono" pitchFamily="34" charset="-122"/>
                <a:cs typeface="JetBrains Mono" pitchFamily="34" charset="-120"/>
              </a:rPr>
              <a:t>shifty: (s?.todoCount ?? </a:t>
            </a:r>
            <a:r>
              <a:rPr lang="en-US" sz="1300" dirty="0">
                <a:solidFill>
                  <a:schemeClr val="accent1"/>
                </a:solidFill>
                <a:latin typeface="JetBrains Mono" pitchFamily="34" charset="0"/>
                <a:ea typeface="JetBrains Mono" pitchFamily="34" charset="-122"/>
                <a:cs typeface="JetBrains Mono" pitchFamily="34" charset="-120"/>
              </a:rPr>
              <a:t>0</a:t>
            </a:r>
            <a:r>
              <a:rPr lang="en-US" sz="1300" dirty="0">
                <a:solidFill>
                  <a:schemeClr val="tx1"/>
                </a:solidFill>
                <a:latin typeface="JetBrains Mono" pitchFamily="34" charset="0"/>
                <a:ea typeface="JetBrains Mono" pitchFamily="34" charset="-122"/>
                <a:cs typeface="JetBrains Mono" pitchFamily="34" charset="-120"/>
              </a:rPr>
              <a:t>) &gt;= </a:t>
            </a:r>
            <a:r>
              <a:rPr lang="en-US" sz="1300" dirty="0">
                <a:solidFill>
                  <a:schemeClr val="accent1"/>
                </a:solidFill>
                <a:latin typeface="JetBrains Mono" pitchFamily="34" charset="0"/>
                <a:ea typeface="JetBrains Mono" pitchFamily="34" charset="-122"/>
                <a:cs typeface="JetBrains Mono" pitchFamily="34" charset="-120"/>
              </a:rPr>
              <a:t>5</a:t>
            </a:r>
            <a:r>
              <a:rPr lang="en-US" sz="1300" dirty="0">
                <a:solidFill>
                  <a:schemeClr val="tx1"/>
                </a:solidFill>
                <a:latin typeface="JetBrains Mono" pitchFamily="34" charset="0"/>
                <a:ea typeface="JetBrains Mono" pitchFamily="34" charset="-122"/>
                <a:cs typeface="JetBrains Mono" pitchFamily="34" charset="-120"/>
              </a:rPr>
              <a:t>,</a:t>
            </a:r>
            <a:endParaRPr lang="en-US" sz="1300" dirty="0"/>
          </a:p>
          <a:p>
            <a:pPr indent="0" marL="0">
              <a:lnSpc>
                <a:spcPts val="2000"/>
              </a:lnSpc>
              <a:buNone/>
            </a:pPr>
            <a:r>
              <a:rPr lang="en-US" sz="1300" dirty="0">
                <a:solidFill>
                  <a:schemeClr val="tx1"/>
                </a:solidFill>
                <a:latin typeface="JetBrains Mono" pitchFamily="34" charset="0"/>
                <a:ea typeface="JetBrains Mono" pitchFamily="34" charset="-122"/>
                <a:cs typeface="JetBrains Mono" pitchFamily="34" charset="-120"/>
              </a:rPr>
              <a:t>sweaty: (s?.biggestFile.lines ?? </a:t>
            </a:r>
            <a:r>
              <a:rPr lang="en-US" sz="1300" dirty="0">
                <a:solidFill>
                  <a:schemeClr val="accent1"/>
                </a:solidFill>
                <a:latin typeface="JetBrains Mono" pitchFamily="34" charset="0"/>
                <a:ea typeface="JetBrains Mono" pitchFamily="34" charset="-122"/>
                <a:cs typeface="JetBrains Mono" pitchFamily="34" charset="-120"/>
              </a:rPr>
              <a:t>0</a:t>
            </a:r>
            <a:r>
              <a:rPr lang="en-US" sz="1300" dirty="0">
                <a:solidFill>
                  <a:schemeClr val="tx1"/>
                </a:solidFill>
                <a:latin typeface="JetBrains Mono" pitchFamily="34" charset="0"/>
                <a:ea typeface="JetBrains Mono" pitchFamily="34" charset="-122"/>
                <a:cs typeface="JetBrains Mono" pitchFamily="34" charset="-120"/>
              </a:rPr>
              <a:t>) &gt; </a:t>
            </a:r>
            <a:r>
              <a:rPr lang="en-US" sz="1300" dirty="0">
                <a:solidFill>
                  <a:schemeClr val="accent1"/>
                </a:solidFill>
                <a:latin typeface="JetBrains Mono" pitchFamily="34" charset="0"/>
                <a:ea typeface="JetBrains Mono" pitchFamily="34" charset="-122"/>
                <a:cs typeface="JetBrains Mono" pitchFamily="34" charset="-120"/>
              </a:rPr>
              <a:t>300</a:t>
            </a:r>
            <a:r>
              <a:rPr lang="en-US" sz="1300" dirty="0">
                <a:solidFill>
                  <a:schemeClr val="tx1"/>
                </a:solidFill>
                <a:latin typeface="JetBrains Mono" pitchFamily="34" charset="0"/>
                <a:ea typeface="JetBrains Mono" pitchFamily="34" charset="-122"/>
                <a:cs typeface="JetBrains Mono" pitchFamily="34" charset="-120"/>
              </a:rPr>
              <a:t>,</a:t>
            </a:r>
            <a:endParaRPr lang="en-US" sz="1300" dirty="0"/>
          </a:p>
          <a:p>
            <a:pPr indent="0" marL="0">
              <a:lnSpc>
                <a:spcPts val="2000"/>
              </a:lnSpc>
              <a:buNone/>
            </a:pPr>
            <a:r>
              <a:rPr lang="en-US" sz="1300" dirty="0">
                <a:solidFill>
                  <a:schemeClr val="tx1"/>
                </a:solidFill>
                <a:latin typeface="JetBrains Mono" pitchFamily="34" charset="0"/>
                <a:ea typeface="JetBrains Mono" pitchFamily="34" charset="-122"/>
                <a:cs typeface="JetBrains Mono" pitchFamily="34" charset="-120"/>
              </a:rPr>
              <a:t>dizzy: (s?.maxNesting ?? </a:t>
            </a:r>
            <a:r>
              <a:rPr lang="en-US" sz="1300" dirty="0">
                <a:solidFill>
                  <a:schemeClr val="accent1"/>
                </a:solidFill>
                <a:latin typeface="JetBrains Mono" pitchFamily="34" charset="0"/>
                <a:ea typeface="JetBrains Mono" pitchFamily="34" charset="-122"/>
                <a:cs typeface="JetBrains Mono" pitchFamily="34" charset="-120"/>
              </a:rPr>
              <a:t>0</a:t>
            </a:r>
            <a:r>
              <a:rPr lang="en-US" sz="1300" dirty="0">
                <a:solidFill>
                  <a:schemeClr val="tx1"/>
                </a:solidFill>
                <a:latin typeface="JetBrains Mono" pitchFamily="34" charset="0"/>
                <a:ea typeface="JetBrains Mono" pitchFamily="34" charset="-122"/>
                <a:cs typeface="JetBrains Mono" pitchFamily="34" charset="-120"/>
              </a:rPr>
              <a:t>) &gt;= </a:t>
            </a:r>
            <a:r>
              <a:rPr lang="en-US" sz="1300" dirty="0">
                <a:solidFill>
                  <a:schemeClr val="accent1"/>
                </a:solidFill>
                <a:latin typeface="JetBrains Mono" pitchFamily="34" charset="0"/>
                <a:ea typeface="JetBrains Mono" pitchFamily="34" charset="-122"/>
                <a:cs typeface="JetBrains Mono" pitchFamily="34" charset="-120"/>
              </a:rPr>
              <a:t>6</a:t>
            </a:r>
            <a:r>
              <a:rPr lang="en-US" sz="1300" dirty="0">
                <a:solidFill>
                  <a:schemeClr val="tx1"/>
                </a:solidFill>
                <a:latin typeface="JetBrains Mono" pitchFamily="34" charset="0"/>
                <a:ea typeface="JetBrains Mono" pitchFamily="34" charset="-122"/>
                <a:cs typeface="JetBrains Mono" pitchFamily="34" charset="-120"/>
              </a:rPr>
              <a:t>,</a:t>
            </a:r>
            <a:endParaRPr lang="en-US" sz="1300" dirty="0"/>
          </a:p>
          <a:p>
            <a:pPr indent="0" marL="0">
              <a:lnSpc>
                <a:spcPts val="2000"/>
              </a:lnSpc>
              <a:buNone/>
            </a:pPr>
            <a:r>
              <a:rPr lang="en-US" sz="1300" dirty="0">
                <a:solidFill>
                  <a:schemeClr val="tx1"/>
                </a:solidFill>
                <a:latin typeface="JetBrains Mono" pitchFamily="34" charset="0"/>
                <a:ea typeface="JetBrains Mono" pitchFamily="34" charset="-122"/>
                <a:cs typeface="JetBrains Mono" pitchFamily="34" charset="-120"/>
              </a:rPr>
              <a:t>shivers: s ? !s.hasTests : </a:t>
            </a:r>
            <a:r>
              <a:rPr lang="en-US" sz="1300" dirty="0">
                <a:solidFill>
                  <a:schemeClr val="accent3"/>
                </a:solidFill>
                <a:latin typeface="JetBrains Mono" pitchFamily="34" charset="0"/>
                <a:ea typeface="JetBrains Mono" pitchFamily="34" charset="-122"/>
                <a:cs typeface="JetBrains Mono" pitchFamily="34" charset="-120"/>
              </a:rPr>
              <a:t>false</a:t>
            </a:r>
            <a:r>
              <a:rPr lang="en-US" sz="1300" dirty="0">
                <a:solidFill>
                  <a:schemeClr val="tx1"/>
                </a:solidFill>
                <a:latin typeface="JetBrains Mono" pitchFamily="34" charset="0"/>
                <a:ea typeface="JetBrains Mono" pitchFamily="34" charset="-122"/>
                <a:cs typeface="JetBrains Mono" pitchFamily="34" charset="-120"/>
              </a:rPr>
              <a:t>,</a:t>
            </a:r>
            <a:endParaRPr lang="en-US" sz="1300" dirty="0"/>
          </a:p>
        </p:txBody>
      </p:sp>
      <p:sp>
        <p:nvSpPr>
          <p:cNvPr id="20" name="Real output"/>
          <p:cNvSpPr/>
          <p:nvPr/>
        </p:nvSpPr>
        <p:spPr>
          <a:xfrm>
            <a:off x="6492240" y="4342384"/>
            <a:ext cx="5150815" cy="1403604"/>
          </a:xfrm>
          <a:prstGeom prst="roundRect">
            <a:avLst>
              <a:gd name="adj" fmla="val 5212"/>
            </a:avLst>
          </a:prstGeom>
          <a:solidFill>
            <a:schemeClr val="bg2"/>
          </a:solidFill>
          <a:ln w="9525">
            <a:solidFill>
              <a:schemeClr val="accent4"/>
            </a:solidFill>
            <a:prstDash val="solid"/>
          </a:ln>
        </p:spPr>
      </p:sp>
      <p:sp>
        <p:nvSpPr>
          <p:cNvPr id="21" name="Text 19"/>
          <p:cNvSpPr txBox="1"/>
          <p:nvPr/>
        </p:nvSpPr>
        <p:spPr>
          <a:xfrm>
            <a:off x="6693408" y="4452112"/>
            <a:ext cx="4748479" cy="237744"/>
          </a:xfrm>
          <a:prstGeom prst="rect">
            <a:avLst/>
          </a:prstGeom>
          <a:noFill/>
          <a:ln/>
        </p:spPr>
        <p:txBody>
          <a:bodyPr wrap="square" lIns="0" tIns="0" rIns="0" bIns="0" rtlCol="0" anchor="ctr"/>
          <a:lstStyle/>
          <a:p>
            <a:pPr indent="0" marL="0">
              <a:buNone/>
            </a:pPr>
            <a:r>
              <a:rPr lang="en-US" sz="1100" dirty="0">
                <a:solidFill>
                  <a:schemeClr val="tx2"/>
                </a:solidFill>
                <a:latin typeface="JetBrains Mono" pitchFamily="34" charset="0"/>
                <a:ea typeface="JetBrains Mono" pitchFamily="34" charset="-122"/>
                <a:cs typeface="JetBrains Mono" pitchFamily="34" charset="-120"/>
              </a:rPr>
              <a:t>real output, expressjs/express</a:t>
            </a:r>
            <a:endParaRPr lang="en-US" sz="1100" dirty="0"/>
          </a:p>
        </p:txBody>
      </p:sp>
      <p:sp>
        <p:nvSpPr>
          <p:cNvPr id="22" name="Text 20"/>
          <p:cNvSpPr txBox="1"/>
          <p:nvPr/>
        </p:nvSpPr>
        <p:spPr>
          <a:xfrm>
            <a:off x="6583680" y="4763008"/>
            <a:ext cx="457200" cy="800100"/>
          </a:xfrm>
          <a:prstGeom prst="rect">
            <a:avLst/>
          </a:prstGeom>
          <a:noFill/>
          <a:ln/>
        </p:spPr>
        <p:txBody>
          <a:bodyPr wrap="square" lIns="0" tIns="0" rIns="0" bIns="0" rtlCol="0" anchor="t"/>
          <a:lstStyle/>
          <a:p>
            <a:pPr algn="r" indent="0" marL="0">
              <a:lnSpc>
                <a:spcPts val="2100"/>
              </a:lnSpc>
              <a:buNone/>
            </a:pPr>
            <a:r>
              <a:rPr lang="en-US" sz="1400" dirty="0">
                <a:solidFill>
                  <a:schemeClr val="accent5"/>
                </a:solidFill>
                <a:latin typeface="JetBrains Mono" pitchFamily="34" charset="0"/>
                <a:ea typeface="JetBrains Mono" pitchFamily="34" charset="-122"/>
                <a:cs typeface="JetBrains Mono" pitchFamily="34" charset="-120"/>
              </a:rPr>
              <a:t>1</a:t>
            </a:r>
            <a:endParaRPr lang="en-US" sz="1400" dirty="0"/>
          </a:p>
          <a:p>
            <a:pPr algn="r" indent="0" marL="0">
              <a:lnSpc>
                <a:spcPts val="2100"/>
              </a:lnSpc>
              <a:buNone/>
            </a:pPr>
            <a:r>
              <a:rPr lang="en-US" sz="1400" dirty="0">
                <a:solidFill>
                  <a:schemeClr val="accent5"/>
                </a:solidFill>
                <a:latin typeface="JetBrains Mono" pitchFamily="34" charset="0"/>
                <a:ea typeface="JetBrains Mono" pitchFamily="34" charset="-122"/>
                <a:cs typeface="JetBrains Mono" pitchFamily="34" charset="-120"/>
              </a:rPr>
              <a:t>2</a:t>
            </a:r>
            <a:endParaRPr lang="en-US" sz="1400" dirty="0"/>
          </a:p>
          <a:p>
            <a:pPr algn="r" indent="0" marL="0">
              <a:lnSpc>
                <a:spcPts val="2100"/>
              </a:lnSpc>
              <a:buNone/>
            </a:pPr>
            <a:r>
              <a:rPr lang="en-US" sz="1400" dirty="0">
                <a:solidFill>
                  <a:schemeClr val="accent5"/>
                </a:solidFill>
                <a:latin typeface="JetBrains Mono" pitchFamily="34" charset="0"/>
                <a:ea typeface="JetBrains Mono" pitchFamily="34" charset="-122"/>
                <a:cs typeface="JetBrains Mono" pitchFamily="34" charset="-120"/>
              </a:rPr>
              <a:t>3</a:t>
            </a:r>
            <a:endParaRPr lang="en-US" sz="1400" dirty="0"/>
          </a:p>
        </p:txBody>
      </p:sp>
      <p:sp>
        <p:nvSpPr>
          <p:cNvPr id="23" name="Text 21"/>
          <p:cNvSpPr txBox="1"/>
          <p:nvPr/>
        </p:nvSpPr>
        <p:spPr>
          <a:xfrm>
            <a:off x="7223760" y="4763008"/>
            <a:ext cx="4282135" cy="800100"/>
          </a:xfrm>
          <a:prstGeom prst="rect">
            <a:avLst/>
          </a:prstGeom>
          <a:noFill/>
          <a:ln/>
        </p:spPr>
        <p:txBody>
          <a:bodyPr wrap="square" lIns="0" tIns="0" rIns="0" bIns="0" rtlCol="0" anchor="t"/>
          <a:lstStyle/>
          <a:p>
            <a:pPr indent="0" marL="0">
              <a:lnSpc>
                <a:spcPts val="2100"/>
              </a:lnSpc>
              <a:buNone/>
            </a:pPr>
            <a:r>
              <a:rPr lang="en-US" sz="1400" dirty="0">
                <a:solidFill>
                  <a:schemeClr val="tx2"/>
                </a:solidFill>
                <a:latin typeface="JetBrains Mono" pitchFamily="34" charset="0"/>
                <a:ea typeface="JetBrains Mono" pitchFamily="34" charset="-122"/>
                <a:cs typeface="JetBrains Mono" pitchFamily="34" charset="-120"/>
              </a:rPr>
              <a:t>root, the historian:</a:t>
            </a:r>
            <a:endParaRPr lang="en-US" sz="1400" dirty="0"/>
          </a:p>
          <a:p>
            <a:pPr indent="0" marL="0">
              <a:lnSpc>
                <a:spcPts val="2100"/>
              </a:lnSpc>
              <a:buNone/>
            </a:pPr>
            <a:r>
              <a:rPr lang="en-US" sz="1400" dirty="0">
                <a:solidFill>
                  <a:schemeClr val="tx1"/>
                </a:solidFill>
                <a:latin typeface="JetBrains Mono" pitchFamily="34" charset="0"/>
                <a:ea typeface="JetBrains Mono" pitchFamily="34" charset="-122"/>
                <a:cs typeface="JetBrains Mono" pitchFamily="34" charset="-120"/>
              </a:rPr>
              <a:t>History.md holds </a:t>
            </a:r>
            <a:r>
              <a:rPr lang="en-US" sz="1400" dirty="0">
                <a:solidFill>
                  <a:schemeClr val="accent1"/>
                </a:solidFill>
                <a:latin typeface="JetBrains Mono" pitchFamily="34" charset="0"/>
                <a:ea typeface="JetBrains Mono" pitchFamily="34" charset="-122"/>
                <a:cs typeface="JetBrains Mono" pitchFamily="34" charset="-120"/>
              </a:rPr>
              <a:t>3,929</a:t>
            </a:r>
            <a:r>
              <a:rPr lang="en-US" sz="1400" dirty="0">
                <a:solidFill>
                  <a:schemeClr val="tx1"/>
                </a:solidFill>
                <a:latin typeface="JetBrains Mono" pitchFamily="34" charset="0"/>
                <a:ea typeface="JetBrains Mono" pitchFamily="34" charset="-122"/>
                <a:cs typeface="JetBrains Mono" pitchFamily="34" charset="-120"/>
              </a:rPr>
              <a:t> lines</a:t>
            </a:r>
            <a:endParaRPr lang="en-US" sz="1400" dirty="0"/>
          </a:p>
          <a:p>
            <a:pPr indent="0" marL="0">
              <a:lnSpc>
                <a:spcPts val="2100"/>
              </a:lnSpc>
              <a:buNone/>
            </a:pPr>
            <a:r>
              <a:rPr lang="en-US" sz="1400" dirty="0">
                <a:solidFill>
                  <a:schemeClr val="tx1"/>
                </a:solidFill>
                <a:latin typeface="JetBrains Mono" pitchFamily="34" charset="0"/>
                <a:ea typeface="JetBrains Mono" pitchFamily="34" charset="-122"/>
                <a:cs typeface="JetBrains Mono" pitchFamily="34" charset="-120"/>
              </a:rPr>
              <a:t>out of my </a:t>
            </a:r>
            <a:r>
              <a:rPr lang="en-US" sz="1400" dirty="0">
                <a:solidFill>
                  <a:schemeClr val="accent1"/>
                </a:solidFill>
                <a:latin typeface="JetBrains Mono" pitchFamily="34" charset="0"/>
                <a:ea typeface="JetBrains Mono" pitchFamily="34" charset="-122"/>
                <a:cs typeface="JetBrains Mono" pitchFamily="34" charset="-120"/>
              </a:rPr>
              <a:t>4,405</a:t>
            </a:r>
            <a:r>
              <a:rPr lang="en-US" sz="1400" dirty="0">
                <a:solidFill>
                  <a:schemeClr val="tx1"/>
                </a:solidFill>
                <a:latin typeface="JetBrains Mono" pitchFamily="34" charset="0"/>
                <a:ea typeface="JetBrains Mono" pitchFamily="34" charset="-122"/>
                <a:cs typeface="JetBrains Mono" pitchFamily="34" charset="-120"/>
              </a:rPr>
              <a:t>.</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latin typeface="JetBrains Mono"/>
                <a:ea typeface="JetBrains Mono"/>
                <a:cs typeface="JetBrains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ab"/>
          <p:cNvSpPr txBox="1"/>
          <p:nvPr/>
        </p:nvSpPr>
        <p:spPr>
          <a:xfrm>
            <a:off x="548640" y="320040"/>
            <a:ext cx="2125980" cy="310896"/>
          </a:xfrm>
          <a:prstGeom prst="roundRect">
            <a:avLst>
              <a:gd name="adj" fmla="val 14706"/>
            </a:avLst>
          </a:prstGeom>
          <a:solidFill>
            <a:schemeClr val="bg1"/>
          </a:solidFill>
          <a:ln w="9525">
            <a:solidFill>
              <a:schemeClr val="accent4"/>
            </a:solidFill>
          </a:ln>
        </p:spPr>
        <p:txBody>
          <a:bodyPr wrap="square" lIns="0" tIns="0" rIns="0" bIns="0" rtlCol="0" anchor="ctr"/>
          <a:lstStyle/>
          <a:p>
            <a:pPr algn="ctr" indent="0" marL="0">
              <a:buNone/>
            </a:pPr>
            <a:r>
              <a:rPr lang="en-US" sz="1100" dirty="0">
                <a:solidFill>
                  <a:schemeClr val="tx2"/>
                </a:solidFill>
                <a:latin typeface="JetBrains Mono" pitchFamily="34" charset="0"/>
                <a:ea typeface="JetBrains Mono" pitchFamily="34" charset="-122"/>
                <a:cs typeface="JetBrains Mono" pitchFamily="34" charset="-120"/>
              </a:rPr>
              <a:t>slides/05_tribunal.md</a:t>
            </a:r>
            <a:endParaRPr lang="en-US" sz="1100" dirty="0"/>
          </a:p>
        </p:txBody>
      </p:sp>
      <p:sp>
        <p:nvSpPr>
          <p:cNvPr id="3" name="Text 0"/>
          <p:cNvSpPr/>
          <p:nvPr>
            <p:ph idx="100" type="title" hasCustomPrompt="1"/>
          </p:nvPr>
        </p:nvSpPr>
        <p:spPr>
          <a:xfrm>
            <a:off x="548640" y="868680"/>
            <a:ext cx="11094415" cy="640080"/>
          </a:xfrm>
          <a:prstGeom prst="rect">
            <a:avLst/>
          </a:prstGeom>
          <a:noFill/>
          <a:ln/>
        </p:spPr>
        <p:txBody>
          <a:bodyPr wrap="square" lIns="0" tIns="0" rIns="0" bIns="0" rtlCol="0" anchor="ctr"/>
          <a:lstStyle/>
          <a:p>
            <a:pPr algn="l" indent="0" marL="0">
              <a:buNone/>
            </a:pPr>
            <a:r>
              <a:rPr lang="en-US" sz="3600" b="1" dirty="0">
                <a:solidFill>
                  <a:schemeClr val="tx1"/>
                </a:solidFill>
              </a:rPr>
              <a:t>tribunal.verdict()</a:t>
            </a:r>
            <a:endParaRPr lang="en-US" sz="3600" dirty="0"/>
          </a:p>
        </p:txBody>
      </p:sp>
      <p:sp>
        <p:nvSpPr>
          <p:cNvPr id="4" name="Text 0"/>
          <p:cNvSpPr/>
          <p:nvPr>
            <p:ph idx="101" type="body" hasCustomPrompt="1"/>
          </p:nvPr>
        </p:nvSpPr>
        <p:spPr>
          <a:xfrm>
            <a:off x="548640" y="1536192"/>
            <a:ext cx="11094415" cy="329184"/>
          </a:xfrm>
          <a:prstGeom prst="rect">
            <a:avLst/>
          </a:prstGeom>
          <a:noFill/>
          <a:ln/>
        </p:spPr>
        <p:txBody>
          <a:bodyPr wrap="square" lIns="0" tIns="0" rIns="0" bIns="0" rtlCol="0" anchor="ctr"/>
          <a:lstStyle/>
          <a:p>
            <a:pPr indent="0" marL="0">
              <a:buNone/>
            </a:pPr>
            <a:r>
              <a:rPr lang="en-US" sz="1400" dirty="0">
                <a:solidFill>
                  <a:schemeClr val="tx2"/>
                </a:solidFill>
                <a:latin typeface="JetBrains Mono" pitchFamily="34" charset="0"/>
                <a:ea typeface="JetBrains Mono" pitchFamily="34" charset="-122"/>
                <a:cs typeface="JetBrains Mono" pitchFamily="34" charset="-120"/>
              </a:rPr>
              <a:t>// describe a bug; the suspects argue from their own code; a judge rules</a:t>
            </a:r>
            <a:endParaRPr lang="en-US" sz="1400" dirty="0"/>
          </a:p>
        </p:txBody>
      </p:sp>
      <p:sp>
        <p:nvSpPr>
          <p:cNvPr id="5" name="Text 3"/>
          <p:cNvSpPr txBox="1"/>
          <p:nvPr/>
        </p:nvSpPr>
        <p:spPr>
          <a:xfrm>
            <a:off x="548640" y="2194560"/>
            <a:ext cx="5577840" cy="365760"/>
          </a:xfrm>
          <a:prstGeom prst="rect">
            <a:avLst/>
          </a:prstGeom>
          <a:noFill/>
          <a:ln/>
        </p:spPr>
        <p:txBody>
          <a:bodyPr wrap="square" lIns="0" tIns="0" rIns="0" bIns="0" rtlCol="0" anchor="ctr"/>
          <a:lstStyle/>
          <a:p>
            <a:pPr indent="0" marL="0">
              <a:buNone/>
            </a:pPr>
            <a:r>
              <a:rPr lang="en-US" sz="1500" dirty="0">
                <a:solidFill>
                  <a:schemeClr val="tx2"/>
                </a:solidFill>
                <a:latin typeface="JetBrains Mono" pitchFamily="34" charset="0"/>
                <a:ea typeface="JetBrains Mono" pitchFamily="34" charset="-122"/>
                <a:cs typeface="JetBrains Mono" pitchFamily="34" charset="-120"/>
              </a:rPr>
              <a:t>case: </a:t>
            </a:r>
            <a:r>
              <a:rPr lang="en-US" sz="1500" dirty="0">
                <a:solidFill>
                  <a:schemeClr val="accent2"/>
                </a:solidFill>
                <a:latin typeface="JetBrains Mono" pitchFamily="34" charset="0"/>
                <a:ea typeface="JetBrains Mono" pitchFamily="34" charset="-122"/>
                <a:cs typeface="JetBrains Mono" pitchFamily="34" charset="-120"/>
              </a:rPr>
              <a:t>"Customers are being charged twice."</a:t>
            </a:r>
            <a:endParaRPr lang="en-US" sz="1500" dirty="0"/>
          </a:p>
        </p:txBody>
      </p:sp>
      <p:sp>
        <p:nvSpPr>
          <p:cNvPr id="6" name="Text 4"/>
          <p:cNvSpPr txBox="1"/>
          <p:nvPr/>
        </p:nvSpPr>
        <p:spPr>
          <a:xfrm>
            <a:off x="548640" y="2697480"/>
            <a:ext cx="5577840" cy="1691640"/>
          </a:xfrm>
          <a:prstGeom prst="rect">
            <a:avLst/>
          </a:prstGeom>
          <a:noFill/>
          <a:ln/>
        </p:spPr>
        <p:txBody>
          <a:bodyPr wrap="square" lIns="0" tIns="0" rIns="0" bIns="0" rtlCol="0" anchor="t"/>
          <a:lstStyle/>
          <a:p>
            <a:pPr marL="254000" indent="-254000">
              <a:spcAft>
                <a:spcPts val="1000"/>
              </a:spcAft>
              <a:buClr>
                <a:schemeClr val="tx2"/>
              </a:buClr>
              <a:buSzPct val="100000"/>
              <a:buFont typeface="JetBrains Mono"/>
              <a:buChar char="&gt;"/>
            </a:pPr>
            <a:r>
              <a:rPr lang="en-US" sz="1500" dirty="0">
                <a:solidFill>
                  <a:schemeClr val="tx1"/>
                </a:solidFill>
              </a:rPr>
              <a:t>orders retries the charge with no idempotency key  </a:t>
            </a:r>
            <a:r>
              <a:rPr lang="en-US" sz="1200" dirty="0">
                <a:solidFill>
                  <a:schemeClr val="accent1"/>
                </a:solidFill>
                <a:latin typeface="JetBrains Mono" pitchFamily="34" charset="0"/>
                <a:ea typeface="JetBrains Mono" pitchFamily="34" charset="-122"/>
                <a:cs typeface="JetBrains Mono" pitchFamily="34" charset="-120"/>
              </a:rPr>
              <a:t>[orders/checkout.ts:50-52]</a:t>
            </a:r>
            <a:endParaRPr lang="en-US" sz="1500" dirty="0"/>
          </a:p>
          <a:p>
            <a:pPr marL="254000" indent="-254000">
              <a:spcAft>
                <a:spcPts val="1000"/>
              </a:spcAft>
              <a:buClr>
                <a:schemeClr val="tx2"/>
              </a:buClr>
              <a:buSzPct val="100000"/>
              <a:buFont typeface="JetBrains Mono"/>
              <a:buChar char="&gt;"/>
            </a:pPr>
            <a:r>
              <a:rPr lang="en-US" sz="1500" dirty="0">
                <a:solidFill>
                  <a:schemeClr val="tx1"/>
                </a:solidFill>
              </a:rPr>
              <a:t>gateway gives up at 2000 ms; payments takes ~2400 ms  </a:t>
            </a:r>
            <a:r>
              <a:rPr lang="en-US" sz="1200" dirty="0">
                <a:solidFill>
                  <a:schemeClr val="accent1"/>
                </a:solidFill>
                <a:latin typeface="JetBrains Mono" pitchFamily="34" charset="0"/>
                <a:ea typeface="JetBrains Mono" pitchFamily="34" charset="-122"/>
                <a:cs typeface="JetBrains Mono" pitchFamily="34" charset="-120"/>
              </a:rPr>
              <a:t>[gateway/config.ts:16]</a:t>
            </a:r>
            <a:r>
              <a:rPr lang="en-US" sz="1500" dirty="0">
                <a:solidFill>
                  <a:schemeClr val="tx1"/>
                </a:solidFill>
              </a:rPr>
              <a:t> </a:t>
            </a:r>
            <a:r>
              <a:rPr lang="en-US" sz="1200" dirty="0">
                <a:solidFill>
                  <a:schemeClr val="accent1"/>
                </a:solidFill>
                <a:latin typeface="JetBrains Mono" pitchFamily="34" charset="0"/>
                <a:ea typeface="JetBrains Mono" pitchFamily="34" charset="-122"/>
                <a:cs typeface="JetBrains Mono" pitchFamily="34" charset="-120"/>
              </a:rPr>
              <a:t>[payments/processor.ts:26]</a:t>
            </a:r>
            <a:endParaRPr lang="en-US" sz="1500" dirty="0"/>
          </a:p>
          <a:p>
            <a:pPr marL="254000" indent="-254000">
              <a:spcAft>
                <a:spcPts val="1000"/>
              </a:spcAft>
              <a:buClr>
                <a:schemeClr val="tx2"/>
              </a:buClr>
              <a:buSzPct val="100000"/>
              <a:buFont typeface="JetBrains Mono"/>
              <a:buChar char="&gt;"/>
            </a:pPr>
            <a:r>
              <a:rPr lang="en-US" sz="1500" dirty="0">
                <a:solidFill>
                  <a:schemeClr val="tx1"/>
                </a:solidFill>
              </a:rPr>
              <a:t>No single file shows the bug. The verdict connects them.</a:t>
            </a:r>
            <a:endParaRPr lang="en-US" sz="1500" dirty="0"/>
          </a:p>
        </p:txBody>
      </p:sp>
      <p:sp>
        <p:nvSpPr>
          <p:cNvPr id="7" name="Screenshot placeholder"/>
          <p:cNvSpPr txBox="1"/>
          <p:nvPr/>
        </p:nvSpPr>
        <p:spPr>
          <a:xfrm>
            <a:off x="6492240" y="2194560"/>
            <a:ext cx="5150815" cy="2011680"/>
          </a:xfrm>
          <a:prstGeom prst="roundRect">
            <a:avLst>
              <a:gd name="adj" fmla="val 3636"/>
            </a:avLst>
          </a:prstGeom>
          <a:solidFill>
            <a:schemeClr val="bg1"/>
          </a:solidFill>
          <a:ln w="12700">
            <a:solidFill>
              <a:schemeClr val="accent5"/>
            </a:solidFill>
            <a:prstDash val="dash"/>
          </a:ln>
        </p:spPr>
        <p:txBody>
          <a:bodyPr wrap="square" lIns="152400" tIns="152400" rIns="152400" bIns="152400" rtlCol="0" anchor="ctr"/>
          <a:lstStyle/>
          <a:p>
            <a:pPr algn="ctr" indent="0" marL="0">
              <a:buNone/>
            </a:pPr>
            <a:r>
              <a:rPr lang="en-US" sz="1300" dirty="0">
                <a:solidFill>
                  <a:schemeClr val="tx2"/>
                </a:solidFill>
                <a:latin typeface="JetBrains Mono" pitchFamily="34" charset="0"/>
                <a:ea typeface="JetBrains Mono" pitchFamily="34" charset="-122"/>
                <a:cs typeface="JetBrains Mono" pitchFamily="34" charset="-120"/>
              </a:rPr>
              <a:t>[Screenshot: Tribunal verdict with the fix diff]</a:t>
            </a:r>
            <a:endParaRPr lang="en-US" sz="1300" dirty="0"/>
          </a:p>
        </p:txBody>
      </p:sp>
      <p:sp>
        <p:nvSpPr>
          <p:cNvPr id="8" name="Retry evidence"/>
          <p:cNvSpPr/>
          <p:nvPr/>
        </p:nvSpPr>
        <p:spPr>
          <a:xfrm>
            <a:off x="548640" y="4480560"/>
            <a:ext cx="11094415" cy="1670304"/>
          </a:xfrm>
          <a:prstGeom prst="roundRect">
            <a:avLst>
              <a:gd name="adj" fmla="val 4380"/>
            </a:avLst>
          </a:prstGeom>
          <a:solidFill>
            <a:schemeClr val="bg2"/>
          </a:solidFill>
          <a:ln w="9525">
            <a:solidFill>
              <a:schemeClr val="accent4"/>
            </a:solidFill>
            <a:prstDash val="solid"/>
          </a:ln>
        </p:spPr>
      </p:sp>
      <p:sp>
        <p:nvSpPr>
          <p:cNvPr id="9" name="Text 7"/>
          <p:cNvSpPr txBox="1"/>
          <p:nvPr/>
        </p:nvSpPr>
        <p:spPr>
          <a:xfrm>
            <a:off x="749808" y="4590288"/>
            <a:ext cx="10692079" cy="237744"/>
          </a:xfrm>
          <a:prstGeom prst="rect">
            <a:avLst/>
          </a:prstGeom>
          <a:noFill/>
          <a:ln/>
        </p:spPr>
        <p:txBody>
          <a:bodyPr wrap="square" lIns="0" tIns="0" rIns="0" bIns="0" rtlCol="0" anchor="ctr"/>
          <a:lstStyle/>
          <a:p>
            <a:pPr indent="0" marL="0">
              <a:buNone/>
            </a:pPr>
            <a:r>
              <a:rPr lang="en-US" sz="1100" dirty="0">
                <a:solidFill>
                  <a:schemeClr val="tx2"/>
                </a:solidFill>
                <a:latin typeface="JetBrains Mono" pitchFamily="34" charset="0"/>
                <a:ea typeface="JetBrains Mono" pitchFamily="34" charset="-122"/>
                <a:cs typeface="JetBrains Mono" pitchFamily="34" charset="-120"/>
              </a:rPr>
              <a:t>github.com/m1ssmee/quickcart</a:t>
            </a:r>
            <a:endParaRPr lang="en-US" sz="1100" dirty="0"/>
          </a:p>
        </p:txBody>
      </p:sp>
      <p:sp>
        <p:nvSpPr>
          <p:cNvPr id="10" name="Text 8"/>
          <p:cNvSpPr txBox="1"/>
          <p:nvPr/>
        </p:nvSpPr>
        <p:spPr>
          <a:xfrm>
            <a:off x="749808" y="4590288"/>
            <a:ext cx="10692079" cy="237744"/>
          </a:xfrm>
          <a:prstGeom prst="rect">
            <a:avLst/>
          </a:prstGeom>
          <a:noFill/>
          <a:ln/>
        </p:spPr>
        <p:txBody>
          <a:bodyPr wrap="square" lIns="0" tIns="0" rIns="0" bIns="0" rtlCol="0" anchor="ctr"/>
          <a:lstStyle/>
          <a:p>
            <a:pPr algn="r" indent="0" marL="0">
              <a:buNone/>
            </a:pPr>
            <a:r>
              <a:rPr lang="en-US" sz="1100" dirty="0">
                <a:solidFill>
                  <a:schemeClr val="accent1"/>
                </a:solidFill>
                <a:latin typeface="JetBrains Mono" pitchFamily="34" charset="0"/>
                <a:ea typeface="JetBrains Mono" pitchFamily="34" charset="-122"/>
                <a:cs typeface="JetBrains Mono" pitchFamily="34" charset="-120"/>
              </a:rPr>
              <a:t>[orders/checkout.ts:50-52]</a:t>
            </a:r>
            <a:endParaRPr lang="en-US" sz="1100" dirty="0"/>
          </a:p>
        </p:txBody>
      </p:sp>
      <p:sp>
        <p:nvSpPr>
          <p:cNvPr id="11" name="Highlight"/>
          <p:cNvSpPr/>
          <p:nvPr/>
        </p:nvSpPr>
        <p:spPr>
          <a:xfrm>
            <a:off x="557784" y="5167884"/>
            <a:ext cx="11076127" cy="800100"/>
          </a:xfrm>
          <a:prstGeom prst="rect">
            <a:avLst/>
          </a:prstGeom>
          <a:solidFill>
            <a:schemeClr val="accent6"/>
          </a:solidFill>
          <a:ln/>
        </p:spPr>
      </p:sp>
      <p:sp>
        <p:nvSpPr>
          <p:cNvPr id="12" name="Text 10"/>
          <p:cNvSpPr txBox="1"/>
          <p:nvPr/>
        </p:nvSpPr>
        <p:spPr>
          <a:xfrm>
            <a:off x="640080" y="4901184"/>
            <a:ext cx="457200" cy="1066800"/>
          </a:xfrm>
          <a:prstGeom prst="rect">
            <a:avLst/>
          </a:prstGeom>
          <a:noFill/>
          <a:ln/>
        </p:spPr>
        <p:txBody>
          <a:bodyPr wrap="square" lIns="0" tIns="0" rIns="0" bIns="0" rtlCol="0" anchor="t"/>
          <a:lstStyle/>
          <a:p>
            <a:pPr algn="r" indent="0" marL="0">
              <a:lnSpc>
                <a:spcPts val="2100"/>
              </a:lnSpc>
              <a:buNone/>
            </a:pPr>
            <a:r>
              <a:rPr lang="en-US" sz="1400" dirty="0">
                <a:solidFill>
                  <a:schemeClr val="accent5"/>
                </a:solidFill>
                <a:latin typeface="JetBrains Mono" pitchFamily="34" charset="0"/>
                <a:ea typeface="JetBrains Mono" pitchFamily="34" charset="-122"/>
                <a:cs typeface="JetBrains Mono" pitchFamily="34" charset="-120"/>
              </a:rPr>
              <a:t>49</a:t>
            </a:r>
            <a:endParaRPr lang="en-US" sz="1400" dirty="0"/>
          </a:p>
          <a:p>
            <a:pPr algn="r" indent="0" marL="0">
              <a:lnSpc>
                <a:spcPts val="2100"/>
              </a:lnSpc>
              <a:buNone/>
            </a:pPr>
            <a:r>
              <a:rPr lang="en-US" sz="1400" dirty="0">
                <a:solidFill>
                  <a:schemeClr val="accent5"/>
                </a:solidFill>
                <a:latin typeface="JetBrains Mono" pitchFamily="34" charset="0"/>
                <a:ea typeface="JetBrains Mono" pitchFamily="34" charset="-122"/>
                <a:cs typeface="JetBrains Mono" pitchFamily="34" charset="-120"/>
              </a:rPr>
              <a:t>50</a:t>
            </a:r>
            <a:endParaRPr lang="en-US" sz="1400" dirty="0"/>
          </a:p>
          <a:p>
            <a:pPr algn="r" indent="0" marL="0">
              <a:lnSpc>
                <a:spcPts val="2100"/>
              </a:lnSpc>
              <a:buNone/>
            </a:pPr>
            <a:r>
              <a:rPr lang="en-US" sz="1400" dirty="0">
                <a:solidFill>
                  <a:schemeClr val="accent5"/>
                </a:solidFill>
                <a:latin typeface="JetBrains Mono" pitchFamily="34" charset="0"/>
                <a:ea typeface="JetBrains Mono" pitchFamily="34" charset="-122"/>
                <a:cs typeface="JetBrains Mono" pitchFamily="34" charset="-120"/>
              </a:rPr>
              <a:t>51</a:t>
            </a:r>
            <a:endParaRPr lang="en-US" sz="1400" dirty="0"/>
          </a:p>
          <a:p>
            <a:pPr algn="r" indent="0" marL="0">
              <a:lnSpc>
                <a:spcPts val="2100"/>
              </a:lnSpc>
              <a:buNone/>
            </a:pPr>
            <a:r>
              <a:rPr lang="en-US" sz="1400" dirty="0">
                <a:solidFill>
                  <a:schemeClr val="accent5"/>
                </a:solidFill>
                <a:latin typeface="JetBrains Mono" pitchFamily="34" charset="0"/>
                <a:ea typeface="JetBrains Mono" pitchFamily="34" charset="-122"/>
                <a:cs typeface="JetBrains Mono" pitchFamily="34" charset="-120"/>
              </a:rPr>
              <a:t>52</a:t>
            </a:r>
            <a:endParaRPr lang="en-US" sz="1400" dirty="0"/>
          </a:p>
        </p:txBody>
      </p:sp>
      <p:sp>
        <p:nvSpPr>
          <p:cNvPr id="13" name="Text 11"/>
          <p:cNvSpPr txBox="1"/>
          <p:nvPr/>
        </p:nvSpPr>
        <p:spPr>
          <a:xfrm>
            <a:off x="1280160" y="4901184"/>
            <a:ext cx="10225735" cy="1066800"/>
          </a:xfrm>
          <a:prstGeom prst="rect">
            <a:avLst/>
          </a:prstGeom>
          <a:noFill/>
          <a:ln/>
        </p:spPr>
        <p:txBody>
          <a:bodyPr wrap="square" lIns="0" tIns="0" rIns="0" bIns="0" rtlCol="0" anchor="t"/>
          <a:lstStyle/>
          <a:p>
            <a:pPr indent="0" marL="0">
              <a:lnSpc>
                <a:spcPts val="2100"/>
              </a:lnSpc>
              <a:buNone/>
            </a:pPr>
            <a:r>
              <a:rPr lang="en-US" sz="1400" dirty="0">
                <a:solidFill>
                  <a:schemeClr val="tx2"/>
                </a:solidFill>
                <a:latin typeface="JetBrains Mono" pitchFamily="34" charset="0"/>
                <a:ea typeface="JetBrains Mono" pitchFamily="34" charset="-122"/>
                <a:cs typeface="JetBrains Mono" pitchFamily="34" charset="-120"/>
              </a:rPr>
              <a:t>// retry added to fix flaky checkouts</a:t>
            </a:r>
            <a:endParaRPr lang="en-US" sz="1400" dirty="0"/>
          </a:p>
          <a:p>
            <a:pPr indent="0" marL="0">
              <a:lnSpc>
                <a:spcPts val="2100"/>
              </a:lnSpc>
              <a:buNone/>
            </a:pPr>
            <a:r>
              <a:rPr lang="en-US" sz="1400" dirty="0">
                <a:solidFill>
                  <a:schemeClr val="accent3"/>
                </a:solidFill>
                <a:latin typeface="JetBrains Mono" pitchFamily="34" charset="0"/>
                <a:ea typeface="JetBrains Mono" pitchFamily="34" charset="-122"/>
                <a:cs typeface="JetBrains Mono" pitchFamily="34" charset="-120"/>
              </a:rPr>
              <a:t>if</a:t>
            </a:r>
            <a:r>
              <a:rPr lang="en-US" sz="1400" dirty="0">
                <a:solidFill>
                  <a:schemeClr val="tx1"/>
                </a:solidFill>
                <a:latin typeface="JetBrains Mono" pitchFamily="34" charset="0"/>
                <a:ea typeface="JetBrains Mono" pitchFamily="34" charset="-122"/>
                <a:cs typeface="JetBrains Mono" pitchFamily="34" charset="-120"/>
              </a:rPr>
              <a:t> (err </a:t>
            </a:r>
            <a:r>
              <a:rPr lang="en-US" sz="1400" dirty="0">
                <a:solidFill>
                  <a:schemeClr val="accent3"/>
                </a:solidFill>
                <a:latin typeface="JetBrains Mono" pitchFamily="34" charset="0"/>
                <a:ea typeface="JetBrains Mono" pitchFamily="34" charset="-122"/>
                <a:cs typeface="JetBrains Mono" pitchFamily="34" charset="-120"/>
              </a:rPr>
              <a:t>instanceof</a:t>
            </a:r>
            <a:r>
              <a:rPr lang="en-US" sz="1400" dirty="0">
                <a:solidFill>
                  <a:schemeClr val="tx1"/>
                </a:solidFill>
                <a:latin typeface="JetBrains Mono" pitchFamily="34" charset="0"/>
                <a:ea typeface="JetBrains Mono" pitchFamily="34" charset="-122"/>
                <a:cs typeface="JetBrains Mono" pitchFamily="34" charset="-120"/>
              </a:rPr>
              <a:t> UpstreamTimeoutError &amp;&amp; attempt &lt; MAX_PAYMENT_ATTEMPTS) {</a:t>
            </a:r>
            <a:endParaRPr lang="en-US" sz="1400" dirty="0"/>
          </a:p>
          <a:p>
            <a:pPr indent="0" marL="0">
              <a:lnSpc>
                <a:spcPts val="2100"/>
              </a:lnSpc>
              <a:buNone/>
            </a:pPr>
            <a:r>
              <a:rPr lang="en-US" sz="1400" dirty="0">
                <a:solidFill>
                  <a:schemeClr val="tx1"/>
                </a:solidFill>
                <a:latin typeface="JetBrains Mono" pitchFamily="34" charset="0"/>
                <a:ea typeface="JetBrains Mono" pitchFamily="34" charset="-122"/>
                <a:cs typeface="JetBrains Mono" pitchFamily="34" charset="-120"/>
              </a:rPr>
              <a:t>  log(</a:t>
            </a:r>
            <a:r>
              <a:rPr lang="en-US" sz="1400" dirty="0">
                <a:solidFill>
                  <a:schemeClr val="accent2"/>
                </a:solidFill>
                <a:latin typeface="JetBrains Mono" pitchFamily="34" charset="0"/>
                <a:ea typeface="JetBrains Mono" pitchFamily="34" charset="-122"/>
                <a:cs typeface="JetBrains Mono" pitchFamily="34" charset="-120"/>
              </a:rPr>
              <a:t>'warn'</a:t>
            </a:r>
            <a:r>
              <a:rPr lang="en-US" sz="1400" dirty="0">
                <a:solidFill>
                  <a:schemeClr val="tx1"/>
                </a:solidFill>
                <a:latin typeface="JetBrains Mono" pitchFamily="34" charset="0"/>
                <a:ea typeface="JetBrains Mono" pitchFamily="34" charset="-122"/>
                <a:cs typeface="JetBrains Mono" pitchFamily="34" charset="-120"/>
              </a:rPr>
              <a:t>, </a:t>
            </a:r>
            <a:r>
              <a:rPr lang="en-US" sz="1400" dirty="0">
                <a:solidFill>
                  <a:schemeClr val="accent2"/>
                </a:solidFill>
                <a:latin typeface="JetBrains Mono" pitchFamily="34" charset="0"/>
                <a:ea typeface="JetBrains Mono" pitchFamily="34" charset="-122"/>
                <a:cs typeface="JetBrains Mono" pitchFamily="34" charset="-120"/>
              </a:rPr>
              <a:t>'payment timed out, retrying'</a:t>
            </a:r>
            <a:r>
              <a:rPr lang="en-US" sz="1400" dirty="0">
                <a:solidFill>
                  <a:schemeClr val="tx1"/>
                </a:solidFill>
                <a:latin typeface="JetBrains Mono" pitchFamily="34" charset="0"/>
                <a:ea typeface="JetBrains Mono" pitchFamily="34" charset="-122"/>
                <a:cs typeface="JetBrains Mono" pitchFamily="34" charset="-120"/>
              </a:rPr>
              <a:t>, { orderId: order.id, attempt });</a:t>
            </a:r>
            <a:endParaRPr lang="en-US" sz="1400" dirty="0"/>
          </a:p>
          <a:p>
            <a:pPr indent="0" marL="0">
              <a:lnSpc>
                <a:spcPts val="2100"/>
              </a:lnSpc>
              <a:buNone/>
            </a:pPr>
            <a:r>
              <a:rPr lang="en-US" sz="1400" dirty="0">
                <a:solidFill>
                  <a:schemeClr val="tx1"/>
                </a:solidFill>
                <a:latin typeface="JetBrains Mono" pitchFamily="34" charset="0"/>
                <a:ea typeface="JetBrains Mono" pitchFamily="34" charset="-122"/>
                <a:cs typeface="JetBrains Mono" pitchFamily="34" charset="-120"/>
              </a:rPr>
              <a:t>  </a:t>
            </a:r>
            <a:r>
              <a:rPr lang="en-US" sz="1400" dirty="0">
                <a:solidFill>
                  <a:schemeClr val="accent3"/>
                </a:solidFill>
                <a:latin typeface="JetBrains Mono" pitchFamily="34" charset="0"/>
                <a:ea typeface="JetBrains Mono" pitchFamily="34" charset="-122"/>
                <a:cs typeface="JetBrains Mono" pitchFamily="34" charset="-120"/>
              </a:rPr>
              <a:t>continue</a:t>
            </a:r>
            <a:r>
              <a:rPr lang="en-US" sz="1400" dirty="0">
                <a:solidFill>
                  <a:schemeClr val="tx1"/>
                </a:solidFill>
                <a:latin typeface="JetBrains Mono" pitchFamily="34" charset="0"/>
                <a:ea typeface="JetBrains Mono" pitchFamily="34" charset="-122"/>
                <a:cs typeface="JetBrains Mono" pitchFamily="34" charset="-120"/>
              </a:rPr>
              <a:t>;</a:t>
            </a:r>
            <a:endParaRPr lang="en-US" sz="14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latin typeface="JetBrains Mono"/>
                <a:ea typeface="JetBrains Mono"/>
                <a:cs typeface="JetBrains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ab"/>
          <p:cNvSpPr txBox="1"/>
          <p:nvPr/>
        </p:nvSpPr>
        <p:spPr>
          <a:xfrm>
            <a:off x="548640" y="320040"/>
            <a:ext cx="1706880" cy="310896"/>
          </a:xfrm>
          <a:prstGeom prst="roundRect">
            <a:avLst>
              <a:gd name="adj" fmla="val 14706"/>
            </a:avLst>
          </a:prstGeom>
          <a:solidFill>
            <a:schemeClr val="bg1"/>
          </a:solidFill>
          <a:ln w="9525">
            <a:solidFill>
              <a:schemeClr val="accent4"/>
            </a:solidFill>
          </a:ln>
        </p:spPr>
        <p:txBody>
          <a:bodyPr wrap="square" lIns="0" tIns="0" rIns="0" bIns="0" rtlCol="0" anchor="ctr"/>
          <a:lstStyle/>
          <a:p>
            <a:pPr algn="ctr" indent="0" marL="0">
              <a:buNone/>
            </a:pPr>
            <a:r>
              <a:rPr lang="en-US" sz="1100" dirty="0">
                <a:solidFill>
                  <a:schemeClr val="tx2"/>
                </a:solidFill>
                <a:latin typeface="JetBrains Mono" pitchFamily="34" charset="0"/>
                <a:ea typeface="JetBrains Mono" pitchFamily="34" charset="-122"/>
                <a:cs typeface="JetBrains Mono" pitchFamily="34" charset="-120"/>
              </a:rPr>
              <a:t>slides/06_fit.md</a:t>
            </a:r>
            <a:endParaRPr lang="en-US" sz="1100" dirty="0"/>
          </a:p>
        </p:txBody>
      </p:sp>
      <p:sp>
        <p:nvSpPr>
          <p:cNvPr id="3" name="Text 0"/>
          <p:cNvSpPr/>
          <p:nvPr>
            <p:ph idx="100" type="title" hasCustomPrompt="1"/>
          </p:nvPr>
        </p:nvSpPr>
        <p:spPr>
          <a:xfrm>
            <a:off x="548640" y="868680"/>
            <a:ext cx="11094415" cy="640080"/>
          </a:xfrm>
          <a:prstGeom prst="rect">
            <a:avLst/>
          </a:prstGeom>
          <a:noFill/>
          <a:ln/>
        </p:spPr>
        <p:txBody>
          <a:bodyPr wrap="square" lIns="0" tIns="0" rIns="0" bIns="0" rtlCol="0" anchor="ctr"/>
          <a:lstStyle/>
          <a:p>
            <a:pPr algn="l" indent="0" marL="0">
              <a:buNone/>
            </a:pPr>
            <a:r>
              <a:rPr lang="en-US" sz="3600" b="1" dirty="0">
                <a:solidFill>
                  <a:schemeClr val="tx1"/>
                </a:solidFill>
              </a:rPr>
              <a:t>fit(problem_statement)</a:t>
            </a:r>
            <a:endParaRPr lang="en-US" sz="3600" dirty="0"/>
          </a:p>
        </p:txBody>
      </p:sp>
      <p:sp>
        <p:nvSpPr>
          <p:cNvPr id="4" name="Text 0"/>
          <p:cNvSpPr/>
          <p:nvPr>
            <p:ph idx="101" type="body" hasCustomPrompt="1"/>
          </p:nvPr>
        </p:nvSpPr>
        <p:spPr>
          <a:xfrm>
            <a:off x="548640" y="1536192"/>
            <a:ext cx="11094415" cy="329184"/>
          </a:xfrm>
          <a:prstGeom prst="rect">
            <a:avLst/>
          </a:prstGeom>
          <a:noFill/>
          <a:ln/>
        </p:spPr>
        <p:txBody>
          <a:bodyPr wrap="square" lIns="0" tIns="0" rIns="0" bIns="0" rtlCol="0" anchor="ctr"/>
          <a:lstStyle/>
          <a:p>
            <a:pPr indent="0" marL="0">
              <a:buNone/>
            </a:pPr>
            <a:r>
              <a:rPr lang="en-US" sz="1400" dirty="0">
                <a:solidFill>
                  <a:schemeClr val="tx2"/>
                </a:solidFill>
                <a:latin typeface="JetBrains Mono" pitchFamily="34" charset="0"/>
                <a:ea typeface="JetBrains Mono" pitchFamily="34" charset="-122"/>
                <a:cs typeface="JetBrains Mono" pitchFamily="34" charset="-120"/>
              </a:rPr>
              <a:t>// "Bridge the Gap", side by side</a:t>
            </a:r>
            <a:endParaRPr lang="en-US" sz="1400" dirty="0"/>
          </a:p>
        </p:txBody>
      </p:sp>
      <p:graphicFrame>
        <p:nvGraphicFramePr>
          <p:cNvPr id="7" name="Fit table"/>
          <p:cNvGraphicFramePr>
            <a:graphicFrameLocks noGrp="1"/>
          </p:cNvGraphicFramePr>
          <p:nvPr>
            <p:extLst>
              <p:ext uri="{D42A27DB-BD31-4B8C-83A1-F6EECF244321}">
                <p14:modId xmlns:p14="http://schemas.microsoft.com/office/powerpoint/2010/main" val="1579011935"/>
              </p:ext>
            </p:extLst>
          </p:nvPr>
        </p:nvGraphicFramePr>
        <p:xfrm>
          <a:off x="548640" y="2148840"/>
          <a:ext cx="11094415" cy="914400"/>
        </p:xfrm>
        <a:graphic>
          <a:graphicData uri="http://schemas.openxmlformats.org/drawingml/2006/table">
            <a:tbl>
              <a:tblPr/>
              <a:tblGrid>
                <a:gridCol w="4023360"/>
                <a:gridCol w="7071055"/>
              </a:tblGrid>
              <a:tr h="457200">
                <a:tc>
                  <a:txBody>
                    <a:bodyPr/>
                    <a:lstStyle/>
                    <a:p>
                      <a:pPr indent="0" marL="0">
                        <a:buNone/>
                      </a:pPr>
                      <a:r>
                        <a:rPr lang="en-US" sz="1200" dirty="0">
                          <a:solidFill>
                            <a:schemeClr val="tx2"/>
                          </a:solidFill>
                          <a:latin typeface="JetBrains Mono" pitchFamily="34" charset="0"/>
                          <a:ea typeface="JetBrains Mono" pitchFamily="34" charset="-122"/>
                          <a:cs typeface="JetBrains Mono" pitchFamily="34" charset="-120"/>
                        </a:rPr>
                        <a:t>// gap in the problem statement</a:t>
                      </a:r>
                      <a:endParaRPr lang="en-US" sz="1200" dirty="0">
                        <a:latin typeface="JetBrains Mono" charset="0"/>
                        <a:ea typeface="JetBrains Mono" charset="0"/>
                        <a:cs typeface="JetBrains Mono" charset="0"/>
                      </a:endParaRPr>
                    </a:p>
                  </a:txBody>
                  <a:tcPr marL="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tcPr>
                </a:tc>
                <a:tc>
                  <a:txBody>
                    <a:bodyPr/>
                    <a:lstStyle/>
                    <a:p>
                      <a:pPr indent="0" marL="0">
                        <a:buNone/>
                      </a:pPr>
                      <a:r>
                        <a:rPr lang="en-US" sz="1200" dirty="0">
                          <a:solidFill>
                            <a:schemeClr val="tx2"/>
                          </a:solidFill>
                          <a:latin typeface="JetBrains Mono" pitchFamily="34" charset="0"/>
                          <a:ea typeface="JetBrains Mono" pitchFamily="34" charset="-122"/>
                          <a:cs typeface="JetBrains Mono" pitchFamily="34" charset="-120"/>
                        </a:rPr>
                        <a:t>// how we bridge it</a:t>
                      </a:r>
                      <a:endParaRPr lang="en-US" sz="1200" dirty="0">
                        <a:latin typeface="JetBrains Mono" charset="0"/>
                        <a:ea typeface="JetBrains Mono" charset="0"/>
                        <a:cs typeface="JetBrains Mono" charset="0"/>
                      </a:endParaRPr>
                    </a:p>
                  </a:txBody>
                  <a:tcPr marL="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tcPr>
                </a:tc>
              </a:tr>
              <a:tr h="658368">
                <a:tc>
                  <a:txBody>
                    <a:bodyPr/>
                    <a:lstStyle/>
                    <a:p>
                      <a:pPr indent="0" marL="0">
                        <a:buNone/>
                      </a:pPr>
                      <a:r>
                        <a:rPr lang="en-US" sz="1500" b="1" dirty="0">
                          <a:solidFill>
                            <a:schemeClr val="tx1"/>
                          </a:solidFill>
                          <a:latin typeface="JetBrains Mono" pitchFamily="34" charset="0"/>
                          <a:ea typeface="JetBrains Mono" pitchFamily="34" charset="-122"/>
                          <a:cs typeface="JetBrains Mono" pitchFamily="34" charset="-120"/>
                        </a:rPr>
                        <a:t>beginners ↔ experts</a:t>
                      </a:r>
                      <a:endParaRPr lang="en-US" sz="1500" dirty="0">
                        <a:latin typeface="JetBrains Mono" charset="0"/>
                        <a:ea typeface="JetBrains Mono" charset="0"/>
                        <a:cs typeface="JetBrains Mono" charset="0"/>
                      </a:endParaRPr>
                    </a:p>
                  </a:txBody>
                  <a:tcPr marL="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tcPr>
                </a:tc>
                <a:tc>
                  <a:txBody>
                    <a:bodyPr/>
                    <a:lstStyle/>
                    <a:p>
                      <a:pPr indent="0" marL="0">
                        <a:buNone/>
                      </a:pPr>
                      <a:r>
                        <a:rPr lang="en-US" sz="1500" dirty="0">
                          <a:solidFill>
                            <a:schemeClr val="tx1"/>
                          </a:solidFill>
                        </a:rPr>
                        <a:t>Beginner and Expert modes. The Tribunal shows how seniors debug.</a:t>
                      </a:r>
                      <a:endParaRPr lang="en-US" sz="1500" dirty="0"/>
                    </a:p>
                  </a:txBody>
                  <a:tcPr marL="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tcPr>
                </a:tc>
              </a:tr>
              <a:tr h="658368">
                <a:tc>
                  <a:txBody>
                    <a:bodyPr/>
                    <a:lstStyle/>
                    <a:p>
                      <a:pPr indent="0" marL="0">
                        <a:buNone/>
                      </a:pPr>
                      <a:r>
                        <a:rPr lang="en-US" sz="1500" b="1" dirty="0">
                          <a:solidFill>
                            <a:schemeClr val="tx1"/>
                          </a:solidFill>
                          <a:latin typeface="JetBrains Mono" pitchFamily="34" charset="0"/>
                          <a:ea typeface="JetBrains Mono" pitchFamily="34" charset="-122"/>
                          <a:cs typeface="JetBrains Mono" pitchFamily="34" charset="-120"/>
                        </a:rPr>
                        <a:t>humans ↔ machines</a:t>
                      </a:r>
                      <a:endParaRPr lang="en-US" sz="1500" dirty="0">
                        <a:latin typeface="JetBrains Mono" charset="0"/>
                        <a:ea typeface="JetBrains Mono" charset="0"/>
                        <a:cs typeface="JetBrains Mono" charset="0"/>
                      </a:endParaRPr>
                    </a:p>
                  </a:txBody>
                  <a:tcPr marL="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tcPr>
                </a:tc>
                <a:tc>
                  <a:txBody>
                    <a:bodyPr/>
                    <a:lstStyle/>
                    <a:p>
                      <a:pPr indent="0" marL="0">
                        <a:buNone/>
                      </a:pPr>
                      <a:r>
                        <a:rPr lang="en-US" sz="1500" dirty="0">
                          <a:solidFill>
                            <a:schemeClr val="tx1"/>
                          </a:solidFill>
                        </a:rPr>
                        <a:t>The code explains itself in plain language.</a:t>
                      </a:r>
                      <a:endParaRPr lang="en-US" sz="1500" dirty="0"/>
                    </a:p>
                  </a:txBody>
                  <a:tcPr marL="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tcPr>
                </a:tc>
              </a:tr>
              <a:tr h="658368">
                <a:tc>
                  <a:txBody>
                    <a:bodyPr/>
                    <a:lstStyle/>
                    <a:p>
                      <a:pPr indent="0" marL="0">
                        <a:buNone/>
                      </a:pPr>
                      <a:r>
                        <a:rPr lang="en-US" sz="1500" b="1" dirty="0">
                          <a:solidFill>
                            <a:schemeClr val="tx1"/>
                          </a:solidFill>
                          <a:latin typeface="JetBrains Mono" pitchFamily="34" charset="0"/>
                          <a:ea typeface="JetBrains Mono" pitchFamily="34" charset="-122"/>
                          <a:cs typeface="JetBrains Mono" pitchFamily="34" charset="-120"/>
                        </a:rPr>
                        <a:t>complex info ↔ ordinary users</a:t>
                      </a:r>
                      <a:endParaRPr lang="en-US" sz="1500" dirty="0">
                        <a:latin typeface="JetBrains Mono" charset="0"/>
                        <a:ea typeface="JetBrains Mono" charset="0"/>
                        <a:cs typeface="JetBrains Mono" charset="0"/>
                      </a:endParaRPr>
                    </a:p>
                  </a:txBody>
                  <a:tcPr marL="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tcPr>
                </a:tc>
                <a:tc>
                  <a:txBody>
                    <a:bodyPr/>
                    <a:lstStyle/>
                    <a:p>
                      <a:pPr indent="0" marL="0">
                        <a:buNone/>
                      </a:pPr>
                      <a:r>
                        <a:rPr lang="en-US" sz="1500" dirty="0">
                          <a:solidFill>
                            <a:schemeClr val="tx1"/>
                          </a:solidFill>
                        </a:rPr>
                        <a:t>Code health as faces and moods, readable at a glance.</a:t>
                      </a:r>
                      <a:endParaRPr lang="en-US" sz="1500" dirty="0"/>
                    </a:p>
                  </a:txBody>
                  <a:tcPr marL="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tcPr>
                </a:tc>
              </a:tr>
              <a:tr h="658368">
                <a:tc>
                  <a:txBody>
                    <a:bodyPr/>
                    <a:lstStyle/>
                    <a:p>
                      <a:pPr indent="0" marL="0">
                        <a:buNone/>
                      </a:pPr>
                      <a:r>
                        <a:rPr lang="en-US" sz="1500" b="1" dirty="0">
                          <a:solidFill>
                            <a:schemeClr val="tx1"/>
                          </a:solidFill>
                          <a:latin typeface="JetBrains Mono" pitchFamily="34" charset="0"/>
                          <a:ea typeface="JetBrains Mono" pitchFamily="34" charset="-122"/>
                          <a:cs typeface="JetBrains Mono" pitchFamily="34" charset="-120"/>
                        </a:rPr>
                        <a:t>creators ↔ audience</a:t>
                      </a:r>
                      <a:endParaRPr lang="en-US" sz="1500" dirty="0">
                        <a:latin typeface="JetBrains Mono" charset="0"/>
                        <a:ea typeface="JetBrains Mono" charset="0"/>
                        <a:cs typeface="JetBrains Mono" charset="0"/>
                      </a:endParaRPr>
                    </a:p>
                  </a:txBody>
                  <a:tcPr marL="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tcPr>
                </a:tc>
                <a:tc>
                  <a:txBody>
                    <a:bodyPr/>
                    <a:lstStyle/>
                    <a:p>
                      <a:pPr indent="0" marL="0">
                        <a:buNone/>
                      </a:pPr>
                      <a:r>
                        <a:rPr lang="en-US" sz="1500" dirty="0">
                          <a:solidFill>
                            <a:schemeClr val="tx1"/>
                          </a:solidFill>
                        </a:rPr>
                        <a:t>Maintainers' code explains itself to new contributors.</a:t>
                      </a:r>
                      <a:endParaRPr lang="en-US" sz="1500" dirty="0"/>
                    </a:p>
                  </a:txBody>
                  <a:tcPr marL="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tcPr>
                </a:tc>
              </a:tr>
              <a:tr h="822960">
                <a:tc>
                  <a:txBody>
                    <a:bodyPr/>
                    <a:lstStyle/>
                    <a:p>
                      <a:pPr indent="0" marL="0">
                        <a:buNone/>
                      </a:pPr>
                      <a:r>
                        <a:rPr lang="en-US" sz="1500" b="1" dirty="0">
                          <a:solidFill>
                            <a:schemeClr val="accent1"/>
                          </a:solidFill>
                          <a:latin typeface="JetBrains Mono" pitchFamily="34" charset="0"/>
                          <a:ea typeface="JetBrains Mono" pitchFamily="34" charset="-122"/>
                          <a:cs typeface="JetBrains Mono" pitchFamily="34" charset="-120"/>
                        </a:rPr>
                        <a:t>creative edge</a:t>
                      </a:r>
                      <a:endParaRPr lang="en-US" sz="1500" dirty="0">
                        <a:latin typeface="JetBrains Mono" charset="0"/>
                        <a:ea typeface="JetBrains Mono" charset="0"/>
                        <a:cs typeface="JetBrains Mono" charset="0"/>
                      </a:endParaRPr>
                    </a:p>
                  </a:txBody>
                  <a:tcPr marL="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tcPr>
                </a:tc>
                <a:tc>
                  <a:txBody>
                    <a:bodyPr/>
                    <a:lstStyle/>
                    <a:p>
                      <a:pPr indent="0" marL="0">
                        <a:buNone/>
                      </a:pPr>
                      <a:r>
                        <a:rPr lang="en-US" sz="1500" dirty="0">
                          <a:solidFill>
                            <a:schemeClr val="tx1"/>
                          </a:solidFill>
                        </a:rPr>
                        <a:t>An unexpected pairing: cartoon characters and production code. The fiction is new; every fact stays real.</a:t>
                      </a:r>
                      <a:endParaRPr lang="en-US" sz="1500" dirty="0"/>
                    </a:p>
                  </a:txBody>
                  <a:tcPr marL="0" marR="137160" marT="0" marB="0" anchor="ctr">
                    <a:lnL w="0" cap="flat" cmpd="sng" algn="ctr">
                      <a:noFill/>
                    </a:lnL>
                    <a:lnR w="0" cap="flat" cmpd="sng" algn="ctr">
                      <a:noFill/>
                    </a:lnR>
                    <a:lnT w="0" cap="flat" cmpd="sng" algn="ctr">
                      <a:noFill/>
                    </a:lnT>
                    <a:lnB w="9525" cap="flat" cmpd="sng" algn="ctr">
                      <a:solidFill>
                        <a:schemeClr val="accent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latin typeface="JetBrains Mono"/>
                <a:ea typeface="JetBrains Mono"/>
                <a:cs typeface="JetBrains Mon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ab"/>
          <p:cNvSpPr txBox="1"/>
          <p:nvPr/>
        </p:nvSpPr>
        <p:spPr>
          <a:xfrm>
            <a:off x="548640" y="320040"/>
            <a:ext cx="2042160" cy="310896"/>
          </a:xfrm>
          <a:prstGeom prst="roundRect">
            <a:avLst>
              <a:gd name="adj" fmla="val 14706"/>
            </a:avLst>
          </a:prstGeom>
          <a:solidFill>
            <a:schemeClr val="bg1"/>
          </a:solidFill>
          <a:ln w="9525">
            <a:solidFill>
              <a:schemeClr val="accent4"/>
            </a:solidFill>
          </a:ln>
        </p:spPr>
        <p:txBody>
          <a:bodyPr wrap="square" lIns="0" tIns="0" rIns="0" bIns="0" rtlCol="0" anchor="ctr"/>
          <a:lstStyle/>
          <a:p>
            <a:pPr algn="ctr" indent="0" marL="0">
              <a:buNone/>
            </a:pPr>
            <a:r>
              <a:rPr lang="en-US" sz="1100" dirty="0">
                <a:solidFill>
                  <a:schemeClr val="tx2"/>
                </a:solidFill>
                <a:latin typeface="JetBrains Mono" pitchFamily="34" charset="0"/>
                <a:ea typeface="JetBrains Mono" pitchFamily="34" charset="-122"/>
                <a:cs typeface="JetBrains Mono" pitchFamily="34" charset="-120"/>
              </a:rPr>
              <a:t>slides/07_roadmap.md</a:t>
            </a:r>
            <a:endParaRPr lang="en-US" sz="1100" dirty="0"/>
          </a:p>
        </p:txBody>
      </p:sp>
      <p:sp>
        <p:nvSpPr>
          <p:cNvPr id="3" name="Text 0"/>
          <p:cNvSpPr/>
          <p:nvPr>
            <p:ph idx="100" type="title" hasCustomPrompt="1"/>
          </p:nvPr>
        </p:nvSpPr>
        <p:spPr>
          <a:xfrm>
            <a:off x="548640" y="868680"/>
            <a:ext cx="11094415" cy="640080"/>
          </a:xfrm>
          <a:prstGeom prst="rect">
            <a:avLst/>
          </a:prstGeom>
          <a:noFill/>
          <a:ln/>
        </p:spPr>
        <p:txBody>
          <a:bodyPr wrap="square" lIns="0" tIns="0" rIns="0" bIns="0" rtlCol="0" anchor="ctr"/>
          <a:lstStyle/>
          <a:p>
            <a:pPr algn="l" indent="0" marL="0">
              <a:buNone/>
            </a:pPr>
            <a:r>
              <a:rPr lang="en-US" sz="3600" b="1" dirty="0">
                <a:solidFill>
                  <a:schemeClr val="tx1"/>
                </a:solidFill>
              </a:rPr>
              <a:t>roadmap --next</a:t>
            </a:r>
            <a:endParaRPr lang="en-US" sz="3600" dirty="0"/>
          </a:p>
        </p:txBody>
      </p:sp>
      <p:sp>
        <p:nvSpPr>
          <p:cNvPr id="4" name="Text 0"/>
          <p:cNvSpPr/>
          <p:nvPr>
            <p:ph idx="101" type="body" hasCustomPrompt="1"/>
          </p:nvPr>
        </p:nvSpPr>
        <p:spPr>
          <a:xfrm>
            <a:off x="548640" y="1536192"/>
            <a:ext cx="11094415" cy="329184"/>
          </a:xfrm>
          <a:prstGeom prst="rect">
            <a:avLst/>
          </a:prstGeom>
          <a:noFill/>
          <a:ln/>
        </p:spPr>
        <p:txBody>
          <a:bodyPr wrap="square" lIns="0" tIns="0" rIns="0" bIns="0" rtlCol="0" anchor="ctr"/>
          <a:lstStyle/>
          <a:p>
            <a:pPr indent="0" marL="0">
              <a:buNone/>
            </a:pPr>
            <a:r>
              <a:rPr lang="en-US" sz="1400" dirty="0">
                <a:solidFill>
                  <a:schemeClr val="tx2"/>
                </a:solidFill>
                <a:latin typeface="JetBrains Mono" pitchFamily="34" charset="0"/>
                <a:ea typeface="JetBrains Mono" pitchFamily="34" charset="-122"/>
                <a:cs typeface="JetBrains Mono" pitchFamily="34" charset="-120"/>
              </a:rPr>
              <a:t>// final round</a:t>
            </a:r>
            <a:endParaRPr lang="en-US" sz="1400" dirty="0"/>
          </a:p>
        </p:txBody>
      </p:sp>
      <p:sp>
        <p:nvSpPr>
          <p:cNvPr id="5" name="what_if()"/>
          <p:cNvSpPr/>
          <p:nvPr/>
        </p:nvSpPr>
        <p:spPr>
          <a:xfrm>
            <a:off x="548640" y="2148840"/>
            <a:ext cx="3515258" cy="1463040"/>
          </a:xfrm>
          <a:prstGeom prst="roundRect">
            <a:avLst>
              <a:gd name="adj" fmla="val 5000"/>
            </a:avLst>
          </a:prstGeom>
          <a:solidFill>
            <a:schemeClr val="bg1"/>
          </a:solidFill>
          <a:ln w="12700">
            <a:solidFill>
              <a:schemeClr val="accent4"/>
            </a:solidFill>
            <a:prstDash val="solid"/>
          </a:ln>
        </p:spPr>
      </p:sp>
      <p:sp>
        <p:nvSpPr>
          <p:cNvPr id="6" name="Text 4"/>
          <p:cNvSpPr txBox="1"/>
          <p:nvPr/>
        </p:nvSpPr>
        <p:spPr>
          <a:xfrm>
            <a:off x="777240" y="2331720"/>
            <a:ext cx="3058058" cy="320040"/>
          </a:xfrm>
          <a:prstGeom prst="rect">
            <a:avLst/>
          </a:prstGeom>
          <a:noFill/>
          <a:ln/>
        </p:spPr>
        <p:txBody>
          <a:bodyPr wrap="square" lIns="0" tIns="0" rIns="0" bIns="0" rtlCol="0" anchor="ctr"/>
          <a:lstStyle/>
          <a:p>
            <a:pPr indent="0" marL="0">
              <a:buNone/>
            </a:pPr>
            <a:r>
              <a:rPr lang="en-US" sz="1500" b="1" dirty="0">
                <a:solidFill>
                  <a:schemeClr val="tx1"/>
                </a:solidFill>
                <a:latin typeface="JetBrains Mono" pitchFamily="34" charset="0"/>
                <a:ea typeface="JetBrains Mono" pitchFamily="34" charset="-122"/>
                <a:cs typeface="JetBrains Mono" pitchFamily="34" charset="-120"/>
              </a:rPr>
              <a:t>what_if()</a:t>
            </a:r>
            <a:endParaRPr lang="en-US" sz="1500" dirty="0"/>
          </a:p>
        </p:txBody>
      </p:sp>
      <p:sp>
        <p:nvSpPr>
          <p:cNvPr id="7" name="Text 5"/>
          <p:cNvSpPr txBox="1"/>
          <p:nvPr/>
        </p:nvSpPr>
        <p:spPr>
          <a:xfrm>
            <a:off x="777240" y="2715768"/>
            <a:ext cx="3058058" cy="777240"/>
          </a:xfrm>
          <a:prstGeom prst="rect">
            <a:avLst/>
          </a:prstGeom>
          <a:noFill/>
          <a:ln/>
        </p:spPr>
        <p:txBody>
          <a:bodyPr wrap="square" lIns="0" tIns="0" rIns="0" bIns="0" rtlCol="0" anchor="t"/>
          <a:lstStyle/>
          <a:p>
            <a:pPr indent="0" marL="0">
              <a:buNone/>
            </a:pPr>
            <a:r>
              <a:rPr lang="en-US" sz="1400" dirty="0">
                <a:solidFill>
                  <a:schemeClr val="tx1"/>
                </a:solidFill>
              </a:rPr>
              <a:t>Propose a change. Characters react, and the impact ripples through dependent modules.</a:t>
            </a:r>
            <a:endParaRPr lang="en-US" sz="1400" dirty="0"/>
          </a:p>
        </p:txBody>
      </p:sp>
      <p:sp>
        <p:nvSpPr>
          <p:cNvPr id="8" name="live_edit"/>
          <p:cNvSpPr/>
          <p:nvPr/>
        </p:nvSpPr>
        <p:spPr>
          <a:xfrm>
            <a:off x="4338218" y="2148840"/>
            <a:ext cx="3515258" cy="1463040"/>
          </a:xfrm>
          <a:prstGeom prst="roundRect">
            <a:avLst>
              <a:gd name="adj" fmla="val 5000"/>
            </a:avLst>
          </a:prstGeom>
          <a:solidFill>
            <a:schemeClr val="bg1"/>
          </a:solidFill>
          <a:ln w="12700">
            <a:solidFill>
              <a:schemeClr val="accent4"/>
            </a:solidFill>
            <a:prstDash val="solid"/>
          </a:ln>
        </p:spPr>
      </p:sp>
      <p:sp>
        <p:nvSpPr>
          <p:cNvPr id="9" name="Text 7"/>
          <p:cNvSpPr txBox="1"/>
          <p:nvPr/>
        </p:nvSpPr>
        <p:spPr>
          <a:xfrm>
            <a:off x="4566818" y="2331720"/>
            <a:ext cx="3058058" cy="320040"/>
          </a:xfrm>
          <a:prstGeom prst="rect">
            <a:avLst/>
          </a:prstGeom>
          <a:noFill/>
          <a:ln/>
        </p:spPr>
        <p:txBody>
          <a:bodyPr wrap="square" lIns="0" tIns="0" rIns="0" bIns="0" rtlCol="0" anchor="ctr"/>
          <a:lstStyle/>
          <a:p>
            <a:pPr indent="0" marL="0">
              <a:buNone/>
            </a:pPr>
            <a:r>
              <a:rPr lang="en-US" sz="1500" b="1" dirty="0">
                <a:solidFill>
                  <a:schemeClr val="tx1"/>
                </a:solidFill>
                <a:latin typeface="JetBrains Mono" pitchFamily="34" charset="0"/>
                <a:ea typeface="JetBrains Mono" pitchFamily="34" charset="-122"/>
                <a:cs typeface="JetBrains Mono" pitchFamily="34" charset="-120"/>
              </a:rPr>
              <a:t>live_edit</a:t>
            </a:r>
            <a:endParaRPr lang="en-US" sz="1500" dirty="0"/>
          </a:p>
        </p:txBody>
      </p:sp>
      <p:sp>
        <p:nvSpPr>
          <p:cNvPr id="10" name="Text 8"/>
          <p:cNvSpPr txBox="1"/>
          <p:nvPr/>
        </p:nvSpPr>
        <p:spPr>
          <a:xfrm>
            <a:off x="4566818" y="2715768"/>
            <a:ext cx="3058058" cy="777240"/>
          </a:xfrm>
          <a:prstGeom prst="rect">
            <a:avLst/>
          </a:prstGeom>
          <a:noFill/>
          <a:ln/>
        </p:spPr>
        <p:txBody>
          <a:bodyPr wrap="square" lIns="0" tIns="0" rIns="0" bIns="0" rtlCol="0" anchor="t"/>
          <a:lstStyle/>
          <a:p>
            <a:pPr indent="0" marL="0">
              <a:buNone/>
            </a:pPr>
            <a:r>
              <a:rPr lang="en-US" sz="1400" dirty="0">
                <a:solidFill>
                  <a:schemeClr val="tx1"/>
                </a:solidFill>
              </a:rPr>
              <a:t>Reactions as you type. Static analysis picks who is affected; related tests confirm.</a:t>
            </a:r>
            <a:endParaRPr lang="en-US" sz="1400" dirty="0"/>
          </a:p>
        </p:txBody>
      </p:sp>
      <p:sp>
        <p:nvSpPr>
          <p:cNvPr id="11" name="3d + voice"/>
          <p:cNvSpPr/>
          <p:nvPr/>
        </p:nvSpPr>
        <p:spPr>
          <a:xfrm>
            <a:off x="8127797" y="2148840"/>
            <a:ext cx="3515258" cy="1463040"/>
          </a:xfrm>
          <a:prstGeom prst="roundRect">
            <a:avLst>
              <a:gd name="adj" fmla="val 5000"/>
            </a:avLst>
          </a:prstGeom>
          <a:solidFill>
            <a:schemeClr val="bg1"/>
          </a:solidFill>
          <a:ln w="12700">
            <a:solidFill>
              <a:schemeClr val="accent4"/>
            </a:solidFill>
            <a:prstDash val="solid"/>
          </a:ln>
        </p:spPr>
      </p:sp>
      <p:sp>
        <p:nvSpPr>
          <p:cNvPr id="12" name="Text 10"/>
          <p:cNvSpPr txBox="1"/>
          <p:nvPr/>
        </p:nvSpPr>
        <p:spPr>
          <a:xfrm>
            <a:off x="8356397" y="2331720"/>
            <a:ext cx="3058058" cy="320040"/>
          </a:xfrm>
          <a:prstGeom prst="rect">
            <a:avLst/>
          </a:prstGeom>
          <a:noFill/>
          <a:ln/>
        </p:spPr>
        <p:txBody>
          <a:bodyPr wrap="square" lIns="0" tIns="0" rIns="0" bIns="0" rtlCol="0" anchor="ctr"/>
          <a:lstStyle/>
          <a:p>
            <a:pPr indent="0" marL="0">
              <a:buNone/>
            </a:pPr>
            <a:r>
              <a:rPr lang="en-US" sz="1500" b="1" dirty="0">
                <a:solidFill>
                  <a:schemeClr val="tx1"/>
                </a:solidFill>
                <a:latin typeface="JetBrains Mono" pitchFamily="34" charset="0"/>
                <a:ea typeface="JetBrains Mono" pitchFamily="34" charset="-122"/>
                <a:cs typeface="JetBrains Mono" pitchFamily="34" charset="-120"/>
              </a:rPr>
              <a:t>3d + voice</a:t>
            </a:r>
            <a:endParaRPr lang="en-US" sz="1500" dirty="0"/>
          </a:p>
        </p:txBody>
      </p:sp>
      <p:sp>
        <p:nvSpPr>
          <p:cNvPr id="13" name="Text 11"/>
          <p:cNvSpPr txBox="1"/>
          <p:nvPr/>
        </p:nvSpPr>
        <p:spPr>
          <a:xfrm>
            <a:off x="8356397" y="2715768"/>
            <a:ext cx="3058058" cy="777240"/>
          </a:xfrm>
          <a:prstGeom prst="rect">
            <a:avLst/>
          </a:prstGeom>
          <a:noFill/>
          <a:ln/>
        </p:spPr>
        <p:txBody>
          <a:bodyPr wrap="square" lIns="0" tIns="0" rIns="0" bIns="0" rtlCol="0" anchor="t"/>
          <a:lstStyle/>
          <a:p>
            <a:pPr indent="0" marL="0">
              <a:buNone/>
            </a:pPr>
            <a:r>
              <a:rPr lang="en-US" sz="1400" dirty="0">
                <a:solidFill>
                  <a:schemeClr val="tx1"/>
                </a:solidFill>
              </a:rPr>
              <a:t>3D characters floating over the code, with real text-to-speech voices.</a:t>
            </a:r>
            <a:endParaRPr lang="en-US" sz="1400" dirty="0"/>
          </a:p>
        </p:txBody>
      </p:sp>
      <p:sp>
        <p:nvSpPr>
          <p:cNvPr id="14" name="tour"/>
          <p:cNvSpPr/>
          <p:nvPr/>
        </p:nvSpPr>
        <p:spPr>
          <a:xfrm>
            <a:off x="548640" y="3886200"/>
            <a:ext cx="3515258" cy="1463040"/>
          </a:xfrm>
          <a:prstGeom prst="roundRect">
            <a:avLst>
              <a:gd name="adj" fmla="val 5000"/>
            </a:avLst>
          </a:prstGeom>
          <a:solidFill>
            <a:schemeClr val="bg1"/>
          </a:solidFill>
          <a:ln w="12700">
            <a:solidFill>
              <a:schemeClr val="accent4"/>
            </a:solidFill>
            <a:prstDash val="solid"/>
          </a:ln>
        </p:spPr>
      </p:sp>
      <p:sp>
        <p:nvSpPr>
          <p:cNvPr id="15" name="Text 13"/>
          <p:cNvSpPr txBox="1"/>
          <p:nvPr/>
        </p:nvSpPr>
        <p:spPr>
          <a:xfrm>
            <a:off x="777240" y="4069080"/>
            <a:ext cx="3058058" cy="320040"/>
          </a:xfrm>
          <a:prstGeom prst="rect">
            <a:avLst/>
          </a:prstGeom>
          <a:noFill/>
          <a:ln/>
        </p:spPr>
        <p:txBody>
          <a:bodyPr wrap="square" lIns="0" tIns="0" rIns="0" bIns="0" rtlCol="0" anchor="ctr"/>
          <a:lstStyle/>
          <a:p>
            <a:pPr indent="0" marL="0">
              <a:buNone/>
            </a:pPr>
            <a:r>
              <a:rPr lang="en-US" sz="1500" b="1" dirty="0">
                <a:solidFill>
                  <a:schemeClr val="tx1"/>
                </a:solidFill>
                <a:latin typeface="JetBrains Mono" pitchFamily="34" charset="0"/>
                <a:ea typeface="JetBrains Mono" pitchFamily="34" charset="-122"/>
                <a:cs typeface="JetBrains Mono" pitchFamily="34" charset="-120"/>
              </a:rPr>
              <a:t>tour</a:t>
            </a:r>
            <a:endParaRPr lang="en-US" sz="1500" dirty="0"/>
          </a:p>
        </p:txBody>
      </p:sp>
      <p:sp>
        <p:nvSpPr>
          <p:cNvPr id="16" name="Text 14"/>
          <p:cNvSpPr txBox="1"/>
          <p:nvPr/>
        </p:nvSpPr>
        <p:spPr>
          <a:xfrm>
            <a:off x="777240" y="4453128"/>
            <a:ext cx="3058058" cy="777240"/>
          </a:xfrm>
          <a:prstGeom prst="rect">
            <a:avLst/>
          </a:prstGeom>
          <a:noFill/>
          <a:ln/>
        </p:spPr>
        <p:txBody>
          <a:bodyPr wrap="square" lIns="0" tIns="0" rIns="0" bIns="0" rtlCol="0" anchor="t"/>
          <a:lstStyle/>
          <a:p>
            <a:pPr indent="0" marL="0">
              <a:buNone/>
            </a:pPr>
            <a:r>
              <a:rPr lang="en-US" sz="1400" dirty="0">
                <a:solidFill>
                  <a:schemeClr val="tx1"/>
                </a:solidFill>
              </a:rPr>
              <a:t>Characters walk a newcomer through the path a real request takes.</a:t>
            </a:r>
            <a:endParaRPr lang="en-US" sz="1400" dirty="0"/>
          </a:p>
        </p:txBody>
      </p:sp>
      <p:sp>
        <p:nvSpPr>
          <p:cNvPr id="17" name="reach"/>
          <p:cNvSpPr/>
          <p:nvPr/>
        </p:nvSpPr>
        <p:spPr>
          <a:xfrm>
            <a:off x="4338218" y="3886200"/>
            <a:ext cx="3515258" cy="1463040"/>
          </a:xfrm>
          <a:prstGeom prst="roundRect">
            <a:avLst>
              <a:gd name="adj" fmla="val 5000"/>
            </a:avLst>
          </a:prstGeom>
          <a:solidFill>
            <a:schemeClr val="bg1"/>
          </a:solidFill>
          <a:ln w="12700">
            <a:solidFill>
              <a:schemeClr val="accent4"/>
            </a:solidFill>
            <a:prstDash val="solid"/>
          </a:ln>
        </p:spPr>
      </p:sp>
      <p:sp>
        <p:nvSpPr>
          <p:cNvPr id="18" name="Text 16"/>
          <p:cNvSpPr txBox="1"/>
          <p:nvPr/>
        </p:nvSpPr>
        <p:spPr>
          <a:xfrm>
            <a:off x="4566818" y="4069080"/>
            <a:ext cx="3058058" cy="320040"/>
          </a:xfrm>
          <a:prstGeom prst="rect">
            <a:avLst/>
          </a:prstGeom>
          <a:noFill/>
          <a:ln/>
        </p:spPr>
        <p:txBody>
          <a:bodyPr wrap="square" lIns="0" tIns="0" rIns="0" bIns="0" rtlCol="0" anchor="ctr"/>
          <a:lstStyle/>
          <a:p>
            <a:pPr indent="0" marL="0">
              <a:buNone/>
            </a:pPr>
            <a:r>
              <a:rPr lang="en-US" sz="1500" b="1" dirty="0">
                <a:solidFill>
                  <a:schemeClr val="tx1"/>
                </a:solidFill>
                <a:latin typeface="JetBrains Mono" pitchFamily="34" charset="0"/>
                <a:ea typeface="JetBrains Mono" pitchFamily="34" charset="-122"/>
                <a:cs typeface="JetBrains Mono" pitchFamily="34" charset="-120"/>
              </a:rPr>
              <a:t>reach</a:t>
            </a:r>
            <a:endParaRPr lang="en-US" sz="1500" dirty="0"/>
          </a:p>
        </p:txBody>
      </p:sp>
      <p:sp>
        <p:nvSpPr>
          <p:cNvPr id="19" name="Text 17"/>
          <p:cNvSpPr txBox="1"/>
          <p:nvPr/>
        </p:nvSpPr>
        <p:spPr>
          <a:xfrm>
            <a:off x="4566818" y="4453128"/>
            <a:ext cx="3058058" cy="777240"/>
          </a:xfrm>
          <a:prstGeom prst="rect">
            <a:avLst/>
          </a:prstGeom>
          <a:noFill/>
          <a:ln/>
        </p:spPr>
        <p:txBody>
          <a:bodyPr wrap="square" lIns="0" tIns="0" rIns="0" bIns="0" rtlCol="0" anchor="t"/>
          <a:lstStyle/>
          <a:p>
            <a:pPr indent="0" marL="0">
              <a:buNone/>
            </a:pPr>
            <a:r>
              <a:rPr lang="en-US" sz="1400" dirty="0">
                <a:solidFill>
                  <a:schemeClr val="tx1"/>
                </a:solidFill>
              </a:rPr>
              <a:t>Zip upload, private repos via GitHub sign-in, a PR bot, a VS Code extension.</a:t>
            </a:r>
            <a:endParaRPr lang="en-US" sz="1400" dirty="0"/>
          </a:p>
        </p:txBody>
      </p:sp>
      <p:sp>
        <p:nvSpPr>
          <p:cNvPr id="20" name="roast_my_repo"/>
          <p:cNvSpPr/>
          <p:nvPr/>
        </p:nvSpPr>
        <p:spPr>
          <a:xfrm>
            <a:off x="8127797" y="3886200"/>
            <a:ext cx="3515258" cy="1463040"/>
          </a:xfrm>
          <a:prstGeom prst="roundRect">
            <a:avLst>
              <a:gd name="adj" fmla="val 5000"/>
            </a:avLst>
          </a:prstGeom>
          <a:solidFill>
            <a:schemeClr val="bg1"/>
          </a:solidFill>
          <a:ln w="12700">
            <a:solidFill>
              <a:schemeClr val="accent4"/>
            </a:solidFill>
            <a:prstDash val="solid"/>
          </a:ln>
        </p:spPr>
      </p:sp>
      <p:sp>
        <p:nvSpPr>
          <p:cNvPr id="21" name="Text 19"/>
          <p:cNvSpPr txBox="1"/>
          <p:nvPr/>
        </p:nvSpPr>
        <p:spPr>
          <a:xfrm>
            <a:off x="8356397" y="4069080"/>
            <a:ext cx="3058058" cy="320040"/>
          </a:xfrm>
          <a:prstGeom prst="rect">
            <a:avLst/>
          </a:prstGeom>
          <a:noFill/>
          <a:ln/>
        </p:spPr>
        <p:txBody>
          <a:bodyPr wrap="square" lIns="0" tIns="0" rIns="0" bIns="0" rtlCol="0" anchor="ctr"/>
          <a:lstStyle/>
          <a:p>
            <a:pPr indent="0" marL="0">
              <a:buNone/>
            </a:pPr>
            <a:r>
              <a:rPr lang="en-US" sz="1500" b="1" dirty="0">
                <a:solidFill>
                  <a:schemeClr val="tx1"/>
                </a:solidFill>
                <a:latin typeface="JetBrains Mono" pitchFamily="34" charset="0"/>
                <a:ea typeface="JetBrains Mono" pitchFamily="34" charset="-122"/>
                <a:cs typeface="JetBrains Mono" pitchFamily="34" charset="-120"/>
              </a:rPr>
              <a:t>roast_my_repo</a:t>
            </a:r>
            <a:endParaRPr lang="en-US" sz="1500" dirty="0"/>
          </a:p>
        </p:txBody>
      </p:sp>
      <p:sp>
        <p:nvSpPr>
          <p:cNvPr id="22" name="Text 20"/>
          <p:cNvSpPr txBox="1"/>
          <p:nvPr/>
        </p:nvSpPr>
        <p:spPr>
          <a:xfrm>
            <a:off x="8356397" y="4453128"/>
            <a:ext cx="3058058" cy="777240"/>
          </a:xfrm>
          <a:prstGeom prst="rect">
            <a:avLst/>
          </a:prstGeom>
          <a:noFill/>
          <a:ln/>
        </p:spPr>
        <p:txBody>
          <a:bodyPr wrap="square" lIns="0" tIns="0" rIns="0" bIns="0" rtlCol="0" anchor="t"/>
          <a:lstStyle/>
          <a:p>
            <a:pPr indent="0" marL="0">
              <a:buNone/>
            </a:pPr>
            <a:r>
              <a:rPr lang="en-US" sz="1400" dirty="0">
                <a:solidFill>
                  <a:schemeClr val="tx1"/>
                </a:solidFill>
              </a:rPr>
              <a:t>A shareable card of a codebase's worst offenders.</a:t>
            </a:r>
            <a:endParaRPr lang="en-US" sz="1400" dirty="0"/>
          </a:p>
        </p:txBody>
      </p:sp>
      <p:sp>
        <p:nvSpPr>
          <p:cNvPr id="23" name="Closing line"/>
          <p:cNvSpPr txBox="1"/>
          <p:nvPr/>
        </p:nvSpPr>
        <p:spPr>
          <a:xfrm>
            <a:off x="548640" y="5577840"/>
            <a:ext cx="11094415" cy="457200"/>
          </a:xfrm>
          <a:prstGeom prst="rect">
            <a:avLst/>
          </a:prstGeom>
          <a:noFill/>
          <a:ln/>
        </p:spPr>
        <p:txBody>
          <a:bodyPr wrap="square" lIns="0" tIns="0" rIns="0" bIns="0" rtlCol="0" anchor="ctr"/>
          <a:lstStyle/>
          <a:p>
            <a:pPr indent="0" marL="0">
              <a:buNone/>
            </a:pPr>
            <a:r>
              <a:rPr lang="en-US" sz="2200" b="1" dirty="0">
                <a:solidFill>
                  <a:schemeClr val="tx1"/>
                </a:solidFill>
                <a:latin typeface="JetBrains Mono" pitchFamily="34" charset="0"/>
                <a:ea typeface="JetBrains Mono" pitchFamily="34" charset="-122"/>
                <a:cs typeface="JetBrains Mono" pitchFamily="34" charset="-120"/>
              </a:rPr>
              <a:t>The story is fiction. Every line it cites is </a:t>
            </a:r>
            <a:r>
              <a:rPr lang="en-US" sz="2200" b="1" dirty="0">
                <a:solidFill>
                  <a:schemeClr val="accent1"/>
                </a:solidFill>
                <a:latin typeface="JetBrains Mono" pitchFamily="34" charset="0"/>
                <a:ea typeface="JetBrains Mono" pitchFamily="34" charset="-122"/>
                <a:cs typeface="JetBrains Mono" pitchFamily="34" charset="-120"/>
              </a:rPr>
              <a:t>real</a:t>
            </a:r>
            <a:r>
              <a:rPr lang="en-US" sz="2200" b="1" dirty="0">
                <a:solidFill>
                  <a:schemeClr val="tx1"/>
                </a:solidFill>
                <a:latin typeface="JetBrains Mono" pitchFamily="34" charset="0"/>
                <a:ea typeface="JetBrains Mono" pitchFamily="34" charset="-122"/>
                <a:cs typeface="JetBrains Mono" pitchFamily="34" charset="-120"/>
              </a:rPr>
              <a:t>.</a:t>
            </a:r>
            <a:endParaRPr lang="en-US" sz="2200" dirty="0"/>
          </a:p>
        </p:txBody>
      </p:sp>
      <p:sp>
        <p:nvSpPr>
          <p:cNvPr id="25" name="Slide Number Placeholder 0"/>
          <p:cNvSpPr>
            <a:spLocks noGrp="1"/>
          </p:cNvSpPr>
          <p:nvPr>
            <p:ph type="sldNum" sz="quarter" idx="4294967295"/>
          </p:nvPr>
        </p:nvSpPr>
        <p:spPr>
          <a:xfrm>
            <a:off x="11091672" y="635508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latin typeface="JetBrains Mono"/>
                <a:ea typeface="JetBrains Mono"/>
                <a:cs typeface="JetBrains Mono"/>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Codebase Tavern">
  <a:themeElements>
    <a:clrScheme name="Codebase Tavern">
      <a:dk1>
        <a:srgbClr val="111827"/>
      </a:dk1>
      <a:lt1>
        <a:srgbClr val="FFFFFF"/>
      </a:lt1>
      <a:dk2>
        <a:srgbClr val="6B7280"/>
      </a:dk2>
      <a:lt2>
        <a:srgbClr val="F6F8FA"/>
      </a:lt2>
      <a:accent1>
        <a:srgbClr val="EA580C"/>
      </a:accent1>
      <a:accent2>
        <a:srgbClr val="16A34A"/>
      </a:accent2>
      <a:accent3>
        <a:srgbClr val="7C3AED"/>
      </a:accent3>
      <a:accent4>
        <a:srgbClr val="E5E7EB"/>
      </a:accent4>
      <a:accent5>
        <a:srgbClr val="9CA3AF"/>
      </a:accent5>
      <a:accent6>
        <a:srgbClr val="FFEDD5"/>
      </a:accent6>
      <a:hlink>
        <a:srgbClr val="EA580C"/>
      </a:hlink>
      <a:folHlink>
        <a:srgbClr val="7C3AED"/>
      </a:folHlink>
    </a:clrScheme>
    <a:fontScheme name="Codebase Tavern">
      <a:majorFont>
        <a:latin typeface="JetBrains Mon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Codebase Tavern</dc:title>
  <dc:subject>PptxGenJS Presentation</dc:subject>
  <dc:creator>PptxGenJS</dc:creator>
  <cp:lastModifiedBy>PptxGenJS</cp:lastModifiedBy>
  <cp:revision>1</cp:revision>
  <dcterms:created xsi:type="dcterms:W3CDTF">2026-10-17T10:05:22Z</dcterms:created>
  <dcterms:modified xsi:type="dcterms:W3CDTF">2026-10-17T10:05:22Z</dcterms:modified>
</cp:coreProperties>
</file>